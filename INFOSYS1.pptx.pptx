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Tomorrow" charset="1" panose="00000000000000000000"/>
      <p:regular r:id="rId15"/>
    </p:embeddedFont>
    <p:embeddedFont>
      <p:font typeface="Tahoma Bold" charset="1" panose="020B0804030504040204"/>
      <p:regular r:id="rId16"/>
    </p:embeddedFont>
    <p:embeddedFont>
      <p:font typeface="Trebuchet MS Bold" charset="1" panose="020B0703020202020204"/>
      <p:regular r:id="rId17"/>
    </p:embeddedFont>
    <p:embeddedFont>
      <p:font typeface="Verdana Bold" charset="1" panose="020B0804030504040204"/>
      <p:regular r:id="rId18"/>
    </p:embeddedFont>
    <p:embeddedFont>
      <p:font typeface="Arial" charset="1" panose="020B0604020202020204"/>
      <p:regular r:id="rId19"/>
    </p:embeddedFont>
    <p:embeddedFont>
      <p:font typeface="Tahoma" charset="1" panose="020B0604030504040204"/>
      <p:regular r:id="rId20"/>
    </p:embeddedFont>
    <p:embeddedFont>
      <p:font typeface="Tomorrow Bold" charset="1" panose="000000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497622"/>
            <a:ext cx="18288000" cy="9789795"/>
            <a:chOff x="0" y="0"/>
            <a:chExt cx="24384000" cy="13053060"/>
          </a:xfrm>
        </p:grpSpPr>
        <p:sp>
          <p:nvSpPr>
            <p:cNvPr name="Freeform 3" id="3"/>
            <p:cNvSpPr/>
            <p:nvPr/>
          </p:nvSpPr>
          <p:spPr>
            <a:xfrm flipH="false" flipV="false" rot="0">
              <a:off x="0" y="0"/>
              <a:ext cx="24384000" cy="13052552"/>
            </a:xfrm>
            <a:custGeom>
              <a:avLst/>
              <a:gdLst/>
              <a:ahLst/>
              <a:cxnLst/>
              <a:rect r="r" b="b" t="t" l="l"/>
              <a:pathLst>
                <a:path h="13052552" w="24384000">
                  <a:moveTo>
                    <a:pt x="0" y="13052552"/>
                  </a:moveTo>
                  <a:lnTo>
                    <a:pt x="24384000" y="13052552"/>
                  </a:lnTo>
                  <a:lnTo>
                    <a:pt x="24384000" y="0"/>
                  </a:lnTo>
                  <a:lnTo>
                    <a:pt x="0" y="0"/>
                  </a:lnTo>
                  <a:lnTo>
                    <a:pt x="0" y="13052552"/>
                  </a:lnTo>
                  <a:close/>
                </a:path>
              </a:pathLst>
            </a:custGeom>
            <a:solidFill>
              <a:srgbClr val="F4F5FB"/>
            </a:solidFill>
          </p:spPr>
        </p:sp>
      </p:grpSp>
      <p:grpSp>
        <p:nvGrpSpPr>
          <p:cNvPr name="Group 4" id="4"/>
          <p:cNvGrpSpPr/>
          <p:nvPr/>
        </p:nvGrpSpPr>
        <p:grpSpPr>
          <a:xfrm rot="0">
            <a:off x="0" y="0"/>
            <a:ext cx="18288000" cy="497840"/>
            <a:chOff x="0" y="0"/>
            <a:chExt cx="24384000" cy="663787"/>
          </a:xfrm>
        </p:grpSpPr>
        <p:sp>
          <p:nvSpPr>
            <p:cNvPr name="Freeform 5" id="5"/>
            <p:cNvSpPr/>
            <p:nvPr/>
          </p:nvSpPr>
          <p:spPr>
            <a:xfrm flipH="false" flipV="false" rot="0">
              <a:off x="0" y="0"/>
              <a:ext cx="24383492" cy="663448"/>
            </a:xfrm>
            <a:custGeom>
              <a:avLst/>
              <a:gdLst/>
              <a:ahLst/>
              <a:cxnLst/>
              <a:rect r="r" b="b" t="t" l="l"/>
              <a:pathLst>
                <a:path h="663448" w="24383492">
                  <a:moveTo>
                    <a:pt x="24383492" y="663448"/>
                  </a:moveTo>
                  <a:lnTo>
                    <a:pt x="0" y="663448"/>
                  </a:lnTo>
                  <a:lnTo>
                    <a:pt x="0" y="0"/>
                  </a:lnTo>
                  <a:lnTo>
                    <a:pt x="24383492" y="0"/>
                  </a:lnTo>
                  <a:lnTo>
                    <a:pt x="24383492" y="663448"/>
                  </a:lnTo>
                  <a:close/>
                </a:path>
              </a:pathLst>
            </a:custGeom>
            <a:solidFill>
              <a:srgbClr val="7D58F0"/>
            </a:solidFill>
          </p:spPr>
        </p:sp>
      </p:grpSp>
      <p:grpSp>
        <p:nvGrpSpPr>
          <p:cNvPr name="Group 6" id="6"/>
          <p:cNvGrpSpPr>
            <a:grpSpLocks noChangeAspect="true"/>
          </p:cNvGrpSpPr>
          <p:nvPr/>
        </p:nvGrpSpPr>
        <p:grpSpPr>
          <a:xfrm rot="0">
            <a:off x="8877809" y="1207251"/>
            <a:ext cx="8357448" cy="8343900"/>
            <a:chOff x="0" y="0"/>
            <a:chExt cx="11143264" cy="11125200"/>
          </a:xfrm>
        </p:grpSpPr>
        <p:sp>
          <p:nvSpPr>
            <p:cNvPr name="Freeform 7" id="7"/>
            <p:cNvSpPr/>
            <p:nvPr/>
          </p:nvSpPr>
          <p:spPr>
            <a:xfrm flipH="false" flipV="false" rot="0">
              <a:off x="0" y="0"/>
              <a:ext cx="11143234" cy="11125200"/>
            </a:xfrm>
            <a:custGeom>
              <a:avLst/>
              <a:gdLst/>
              <a:ahLst/>
              <a:cxnLst/>
              <a:rect r="r" b="b" t="t" l="l"/>
              <a:pathLst>
                <a:path h="11125200" w="11143234">
                  <a:moveTo>
                    <a:pt x="0" y="0"/>
                  </a:moveTo>
                  <a:lnTo>
                    <a:pt x="11143234" y="0"/>
                  </a:lnTo>
                  <a:lnTo>
                    <a:pt x="11143234" y="11125200"/>
                  </a:lnTo>
                  <a:lnTo>
                    <a:pt x="0" y="11125200"/>
                  </a:lnTo>
                  <a:lnTo>
                    <a:pt x="0" y="0"/>
                  </a:lnTo>
                  <a:close/>
                </a:path>
              </a:pathLst>
            </a:custGeom>
            <a:blipFill>
              <a:blip r:embed="rId2"/>
              <a:stretch>
                <a:fillRect l="0" t="-5" r="0" b="-5"/>
              </a:stretch>
            </a:blipFill>
          </p:spPr>
        </p:sp>
      </p:grpSp>
      <p:sp>
        <p:nvSpPr>
          <p:cNvPr name="Freeform 8" id="8"/>
          <p:cNvSpPr/>
          <p:nvPr/>
        </p:nvSpPr>
        <p:spPr>
          <a:xfrm flipH="false" flipV="false" rot="0">
            <a:off x="8800238" y="1119653"/>
            <a:ext cx="8511540" cy="8509000"/>
          </a:xfrm>
          <a:custGeom>
            <a:avLst/>
            <a:gdLst/>
            <a:ahLst/>
            <a:cxnLst/>
            <a:rect r="r" b="b" t="t" l="l"/>
            <a:pathLst>
              <a:path h="8509000" w="8511540">
                <a:moveTo>
                  <a:pt x="0" y="0"/>
                </a:moveTo>
                <a:lnTo>
                  <a:pt x="8511540" y="0"/>
                </a:lnTo>
                <a:lnTo>
                  <a:pt x="8511540" y="8509000"/>
                </a:lnTo>
                <a:lnTo>
                  <a:pt x="0" y="8509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1524945" y="5733578"/>
            <a:ext cx="6348730" cy="455930"/>
          </a:xfrm>
          <a:prstGeom prst="rect">
            <a:avLst/>
          </a:prstGeom>
        </p:spPr>
        <p:txBody>
          <a:bodyPr anchor="t" rtlCol="false" tIns="0" lIns="0" bIns="0" rIns="0">
            <a:spAutoFit/>
          </a:bodyPr>
          <a:lstStyle/>
          <a:p>
            <a:pPr algn="l">
              <a:lnSpc>
                <a:spcPts val="3479"/>
              </a:lnSpc>
            </a:pPr>
            <a:r>
              <a:rPr lang="en-US" sz="2900" spc="-7">
                <a:solidFill>
                  <a:srgbClr val="12183C"/>
                </a:solidFill>
                <a:latin typeface="Tomorrow"/>
                <a:ea typeface="Tomorrow"/>
                <a:cs typeface="Tomorrow"/>
                <a:sym typeface="Tomorrow"/>
              </a:rPr>
              <a:t>AI driven Revenue Analysis for Hotel</a:t>
            </a:r>
          </a:p>
        </p:txBody>
      </p:sp>
      <p:sp>
        <p:nvSpPr>
          <p:cNvPr name="TextBox 10" id="10"/>
          <p:cNvSpPr txBox="true"/>
          <p:nvPr/>
        </p:nvSpPr>
        <p:spPr>
          <a:xfrm rot="0">
            <a:off x="629033" y="3458944"/>
            <a:ext cx="8514967" cy="1933575"/>
          </a:xfrm>
          <a:prstGeom prst="rect">
            <a:avLst/>
          </a:prstGeom>
        </p:spPr>
        <p:txBody>
          <a:bodyPr anchor="t" rtlCol="false" tIns="0" lIns="0" bIns="0" rIns="0">
            <a:spAutoFit/>
          </a:bodyPr>
          <a:lstStyle/>
          <a:p>
            <a:pPr algn="ctr">
              <a:lnSpc>
                <a:spcPts val="5040"/>
              </a:lnSpc>
            </a:pPr>
            <a:r>
              <a:rPr lang="en-US" sz="4200" spc="-5">
                <a:solidFill>
                  <a:srgbClr val="000000"/>
                </a:solidFill>
                <a:latin typeface="Tomorrow"/>
                <a:ea typeface="Tomorrow"/>
                <a:cs typeface="Tomorrow"/>
                <a:sym typeface="Tomorrow"/>
              </a:rPr>
              <a:t>INFOSYS</a:t>
            </a:r>
          </a:p>
          <a:p>
            <a:pPr algn="l">
              <a:lnSpc>
                <a:spcPts val="10260"/>
              </a:lnSpc>
            </a:pPr>
            <a:r>
              <a:rPr lang="en-US" b="true" sz="8550" spc="245">
                <a:solidFill>
                  <a:srgbClr val="12183C"/>
                </a:solidFill>
                <a:latin typeface="Tahoma Bold"/>
                <a:ea typeface="Tahoma Bold"/>
                <a:cs typeface="Tahoma Bold"/>
                <a:sym typeface="Tahoma Bold"/>
              </a:rPr>
              <a:t>HOTEL REVAI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9789795"/>
            <a:chOff x="0" y="0"/>
            <a:chExt cx="24384000" cy="13053060"/>
          </a:xfrm>
        </p:grpSpPr>
        <p:sp>
          <p:nvSpPr>
            <p:cNvPr name="Freeform 3" id="3"/>
            <p:cNvSpPr/>
            <p:nvPr/>
          </p:nvSpPr>
          <p:spPr>
            <a:xfrm flipH="false" flipV="false" rot="0">
              <a:off x="0" y="0"/>
              <a:ext cx="24384000" cy="13052552"/>
            </a:xfrm>
            <a:custGeom>
              <a:avLst/>
              <a:gdLst/>
              <a:ahLst/>
              <a:cxnLst/>
              <a:rect r="r" b="b" t="t" l="l"/>
              <a:pathLst>
                <a:path h="13052552" w="24384000">
                  <a:moveTo>
                    <a:pt x="0" y="13052552"/>
                  </a:moveTo>
                  <a:lnTo>
                    <a:pt x="24384000" y="13052552"/>
                  </a:lnTo>
                  <a:lnTo>
                    <a:pt x="24384000" y="0"/>
                  </a:lnTo>
                  <a:lnTo>
                    <a:pt x="0" y="0"/>
                  </a:lnTo>
                  <a:lnTo>
                    <a:pt x="0" y="13052552"/>
                  </a:lnTo>
                  <a:close/>
                </a:path>
              </a:pathLst>
            </a:custGeom>
            <a:solidFill>
              <a:srgbClr val="F4F5FB"/>
            </a:solidFill>
          </p:spPr>
        </p:sp>
      </p:grpSp>
      <p:grpSp>
        <p:nvGrpSpPr>
          <p:cNvPr name="Group 4" id="4"/>
          <p:cNvGrpSpPr>
            <a:grpSpLocks noChangeAspect="true"/>
          </p:cNvGrpSpPr>
          <p:nvPr/>
        </p:nvGrpSpPr>
        <p:grpSpPr>
          <a:xfrm rot="0">
            <a:off x="0" y="0"/>
            <a:ext cx="3404622" cy="3404622"/>
            <a:chOff x="0" y="0"/>
            <a:chExt cx="4539496" cy="4539496"/>
          </a:xfrm>
        </p:grpSpPr>
        <p:sp>
          <p:nvSpPr>
            <p:cNvPr name="Freeform 5" id="5"/>
            <p:cNvSpPr/>
            <p:nvPr/>
          </p:nvSpPr>
          <p:spPr>
            <a:xfrm flipH="false" flipV="false" rot="0">
              <a:off x="0" y="0"/>
              <a:ext cx="4539488" cy="4539488"/>
            </a:xfrm>
            <a:custGeom>
              <a:avLst/>
              <a:gdLst/>
              <a:ahLst/>
              <a:cxnLst/>
              <a:rect r="r" b="b" t="t" l="l"/>
              <a:pathLst>
                <a:path h="4539488" w="4539488">
                  <a:moveTo>
                    <a:pt x="0" y="0"/>
                  </a:moveTo>
                  <a:lnTo>
                    <a:pt x="4539488" y="0"/>
                  </a:lnTo>
                  <a:lnTo>
                    <a:pt x="4539488" y="4539488"/>
                  </a:lnTo>
                  <a:lnTo>
                    <a:pt x="0" y="4539488"/>
                  </a:lnTo>
                  <a:lnTo>
                    <a:pt x="0" y="0"/>
                  </a:lnTo>
                  <a:close/>
                </a:path>
              </a:pathLst>
            </a:custGeom>
            <a:blipFill>
              <a:blip r:embed="rId2"/>
              <a:stretch>
                <a:fillRect l="0" t="0" r="0" b="0"/>
              </a:stretch>
            </a:blipFill>
          </p:spPr>
        </p:sp>
      </p:grpSp>
      <p:grpSp>
        <p:nvGrpSpPr>
          <p:cNvPr name="Group 6" id="6"/>
          <p:cNvGrpSpPr/>
          <p:nvPr/>
        </p:nvGrpSpPr>
        <p:grpSpPr>
          <a:xfrm rot="0">
            <a:off x="0" y="9789377"/>
            <a:ext cx="18281015" cy="497840"/>
            <a:chOff x="0" y="0"/>
            <a:chExt cx="24374687" cy="663787"/>
          </a:xfrm>
        </p:grpSpPr>
        <p:sp>
          <p:nvSpPr>
            <p:cNvPr name="Freeform 7" id="7"/>
            <p:cNvSpPr/>
            <p:nvPr/>
          </p:nvSpPr>
          <p:spPr>
            <a:xfrm flipH="false" flipV="false" rot="0">
              <a:off x="0" y="0"/>
              <a:ext cx="24374348" cy="663448"/>
            </a:xfrm>
            <a:custGeom>
              <a:avLst/>
              <a:gdLst/>
              <a:ahLst/>
              <a:cxnLst/>
              <a:rect r="r" b="b" t="t" l="l"/>
              <a:pathLst>
                <a:path h="663448" w="24374348">
                  <a:moveTo>
                    <a:pt x="0" y="0"/>
                  </a:moveTo>
                  <a:lnTo>
                    <a:pt x="24374348" y="0"/>
                  </a:lnTo>
                  <a:lnTo>
                    <a:pt x="24374348" y="663448"/>
                  </a:lnTo>
                  <a:lnTo>
                    <a:pt x="0" y="663448"/>
                  </a:lnTo>
                  <a:lnTo>
                    <a:pt x="0" y="0"/>
                  </a:lnTo>
                  <a:close/>
                </a:path>
              </a:pathLst>
            </a:custGeom>
            <a:solidFill>
              <a:srgbClr val="7D58F0"/>
            </a:solidFill>
          </p:spPr>
        </p:sp>
      </p:grpSp>
      <p:sp>
        <p:nvSpPr>
          <p:cNvPr name="TextBox 8" id="8"/>
          <p:cNvSpPr txBox="true"/>
          <p:nvPr/>
        </p:nvSpPr>
        <p:spPr>
          <a:xfrm rot="0">
            <a:off x="6297809" y="977931"/>
            <a:ext cx="7255509" cy="1079500"/>
          </a:xfrm>
          <a:prstGeom prst="rect">
            <a:avLst/>
          </a:prstGeom>
        </p:spPr>
        <p:txBody>
          <a:bodyPr anchor="t" rtlCol="false" tIns="0" lIns="0" bIns="0" rIns="0">
            <a:spAutoFit/>
          </a:bodyPr>
          <a:lstStyle/>
          <a:p>
            <a:pPr algn="l">
              <a:lnSpc>
                <a:spcPts val="8400"/>
              </a:lnSpc>
            </a:pPr>
            <a:r>
              <a:rPr lang="en-US" b="true" sz="7000" spc="-20">
                <a:solidFill>
                  <a:srgbClr val="000000"/>
                </a:solidFill>
                <a:latin typeface="Tahoma Bold"/>
                <a:ea typeface="Tahoma Bold"/>
                <a:cs typeface="Tahoma Bold"/>
                <a:sym typeface="Tahoma Bold"/>
              </a:rPr>
              <a:t>INTRODUCTION</a:t>
            </a:r>
          </a:p>
        </p:txBody>
      </p:sp>
      <p:sp>
        <p:nvSpPr>
          <p:cNvPr name="TextBox 9" id="9"/>
          <p:cNvSpPr txBox="true"/>
          <p:nvPr/>
        </p:nvSpPr>
        <p:spPr>
          <a:xfrm rot="0">
            <a:off x="4167920" y="2457766"/>
            <a:ext cx="12188825" cy="1809749"/>
          </a:xfrm>
          <a:prstGeom prst="rect">
            <a:avLst/>
          </a:prstGeom>
        </p:spPr>
        <p:txBody>
          <a:bodyPr anchor="t" rtlCol="false" tIns="0" lIns="0" bIns="0" rIns="0">
            <a:spAutoFit/>
          </a:bodyPr>
          <a:lstStyle/>
          <a:p>
            <a:pPr algn="ctr">
              <a:lnSpc>
                <a:spcPts val="3478"/>
              </a:lnSpc>
            </a:pPr>
            <a:r>
              <a:rPr lang="en-US" sz="2649" spc="2">
                <a:solidFill>
                  <a:srgbClr val="04092F"/>
                </a:solidFill>
                <a:latin typeface="Tomorrow"/>
                <a:ea typeface="Tomorrow"/>
                <a:cs typeface="Tomorrow"/>
                <a:sym typeface="Tomorrow"/>
              </a:rPr>
              <a:t>The hospitality industry faces challenges in managing revenue because of changing customer demand and market trends. To solve this, hotels are now using AI-driven solutions that can predict demand, adjust prices dynamically, and improve both profitability and guest satisfaction.</a:t>
            </a:r>
          </a:p>
        </p:txBody>
      </p:sp>
      <p:grpSp>
        <p:nvGrpSpPr>
          <p:cNvPr name="Group 10" id="10"/>
          <p:cNvGrpSpPr>
            <a:grpSpLocks noChangeAspect="true"/>
          </p:cNvGrpSpPr>
          <p:nvPr/>
        </p:nvGrpSpPr>
        <p:grpSpPr>
          <a:xfrm rot="0">
            <a:off x="4349098" y="5059352"/>
            <a:ext cx="1476374" cy="1476375"/>
            <a:chOff x="0" y="0"/>
            <a:chExt cx="1968499" cy="1968500"/>
          </a:xfrm>
        </p:grpSpPr>
        <p:sp>
          <p:nvSpPr>
            <p:cNvPr name="Freeform 11" id="11"/>
            <p:cNvSpPr/>
            <p:nvPr/>
          </p:nvSpPr>
          <p:spPr>
            <a:xfrm flipH="false" flipV="false" rot="0">
              <a:off x="0" y="0"/>
              <a:ext cx="1968500" cy="1968500"/>
            </a:xfrm>
            <a:custGeom>
              <a:avLst/>
              <a:gdLst/>
              <a:ahLst/>
              <a:cxnLst/>
              <a:rect r="r" b="b" t="t" l="l"/>
              <a:pathLst>
                <a:path h="1968500" w="1968500">
                  <a:moveTo>
                    <a:pt x="0" y="0"/>
                  </a:moveTo>
                  <a:lnTo>
                    <a:pt x="1968500" y="0"/>
                  </a:lnTo>
                  <a:lnTo>
                    <a:pt x="1968500" y="1968500"/>
                  </a:lnTo>
                  <a:lnTo>
                    <a:pt x="0" y="1968500"/>
                  </a:lnTo>
                  <a:lnTo>
                    <a:pt x="0" y="0"/>
                  </a:lnTo>
                  <a:close/>
                </a:path>
              </a:pathLst>
            </a:custGeom>
            <a:blipFill>
              <a:blip r:embed="rId3"/>
              <a:stretch>
                <a:fillRect l="0" t="0" r="0" b="0"/>
              </a:stretch>
            </a:blipFill>
          </p:spPr>
        </p:sp>
      </p:grpSp>
      <p:grpSp>
        <p:nvGrpSpPr>
          <p:cNvPr name="Group 12" id="12"/>
          <p:cNvGrpSpPr>
            <a:grpSpLocks noChangeAspect="true"/>
          </p:cNvGrpSpPr>
          <p:nvPr/>
        </p:nvGrpSpPr>
        <p:grpSpPr>
          <a:xfrm rot="0">
            <a:off x="8760497" y="5059352"/>
            <a:ext cx="1476374" cy="1476375"/>
            <a:chOff x="0" y="0"/>
            <a:chExt cx="1968499" cy="1968500"/>
          </a:xfrm>
        </p:grpSpPr>
        <p:sp>
          <p:nvSpPr>
            <p:cNvPr name="Freeform 13" id="13"/>
            <p:cNvSpPr/>
            <p:nvPr/>
          </p:nvSpPr>
          <p:spPr>
            <a:xfrm flipH="false" flipV="false" rot="0">
              <a:off x="0" y="0"/>
              <a:ext cx="1968500" cy="1968500"/>
            </a:xfrm>
            <a:custGeom>
              <a:avLst/>
              <a:gdLst/>
              <a:ahLst/>
              <a:cxnLst/>
              <a:rect r="r" b="b" t="t" l="l"/>
              <a:pathLst>
                <a:path h="1968500" w="1968500">
                  <a:moveTo>
                    <a:pt x="0" y="0"/>
                  </a:moveTo>
                  <a:lnTo>
                    <a:pt x="1968500" y="0"/>
                  </a:lnTo>
                  <a:lnTo>
                    <a:pt x="1968500" y="1968500"/>
                  </a:lnTo>
                  <a:lnTo>
                    <a:pt x="0" y="1968500"/>
                  </a:lnTo>
                  <a:lnTo>
                    <a:pt x="0" y="0"/>
                  </a:lnTo>
                  <a:close/>
                </a:path>
              </a:pathLst>
            </a:custGeom>
            <a:blipFill>
              <a:blip r:embed="rId3"/>
              <a:stretch>
                <a:fillRect l="0" t="0" r="0" b="0"/>
              </a:stretch>
            </a:blipFill>
          </p:spPr>
        </p:sp>
      </p:grpSp>
      <p:grpSp>
        <p:nvGrpSpPr>
          <p:cNvPr name="Group 14" id="14"/>
          <p:cNvGrpSpPr>
            <a:grpSpLocks noChangeAspect="true"/>
          </p:cNvGrpSpPr>
          <p:nvPr/>
        </p:nvGrpSpPr>
        <p:grpSpPr>
          <a:xfrm rot="0">
            <a:off x="13034999" y="5059352"/>
            <a:ext cx="1476374" cy="1476375"/>
            <a:chOff x="0" y="0"/>
            <a:chExt cx="1968499" cy="1968500"/>
          </a:xfrm>
        </p:grpSpPr>
        <p:sp>
          <p:nvSpPr>
            <p:cNvPr name="Freeform 15" id="15"/>
            <p:cNvSpPr/>
            <p:nvPr/>
          </p:nvSpPr>
          <p:spPr>
            <a:xfrm flipH="false" flipV="false" rot="0">
              <a:off x="0" y="0"/>
              <a:ext cx="1968500" cy="1968500"/>
            </a:xfrm>
            <a:custGeom>
              <a:avLst/>
              <a:gdLst/>
              <a:ahLst/>
              <a:cxnLst/>
              <a:rect r="r" b="b" t="t" l="l"/>
              <a:pathLst>
                <a:path h="1968500" w="1968500">
                  <a:moveTo>
                    <a:pt x="0" y="0"/>
                  </a:moveTo>
                  <a:lnTo>
                    <a:pt x="1968500" y="0"/>
                  </a:lnTo>
                  <a:lnTo>
                    <a:pt x="1968500" y="1968500"/>
                  </a:lnTo>
                  <a:lnTo>
                    <a:pt x="0" y="1968500"/>
                  </a:lnTo>
                  <a:lnTo>
                    <a:pt x="0" y="0"/>
                  </a:lnTo>
                  <a:close/>
                </a:path>
              </a:pathLst>
            </a:custGeom>
            <a:blipFill>
              <a:blip r:embed="rId3"/>
              <a:stretch>
                <a:fillRect l="0" t="0" r="0" b="0"/>
              </a:stretch>
            </a:blipFill>
          </p:spPr>
        </p:sp>
      </p:grpSp>
      <p:sp>
        <p:nvSpPr>
          <p:cNvPr name="TextBox 16" id="16"/>
          <p:cNvSpPr txBox="true"/>
          <p:nvPr/>
        </p:nvSpPr>
        <p:spPr>
          <a:xfrm rot="0">
            <a:off x="3103289" y="7290241"/>
            <a:ext cx="3799204" cy="1293495"/>
          </a:xfrm>
          <a:prstGeom prst="rect">
            <a:avLst/>
          </a:prstGeom>
        </p:spPr>
        <p:txBody>
          <a:bodyPr anchor="t" rtlCol="false" tIns="0" lIns="0" bIns="0" rIns="0">
            <a:spAutoFit/>
          </a:bodyPr>
          <a:lstStyle/>
          <a:p>
            <a:pPr algn="l">
              <a:lnSpc>
                <a:spcPts val="3310"/>
              </a:lnSpc>
            </a:pPr>
            <a:r>
              <a:rPr lang="en-US" sz="2600" spc="2">
                <a:solidFill>
                  <a:srgbClr val="04092F"/>
                </a:solidFill>
                <a:latin typeface="Tomorrow"/>
                <a:ea typeface="Tomorrow"/>
                <a:cs typeface="Tomorrow"/>
                <a:sym typeface="Tomorrow"/>
              </a:rPr>
              <a:t>The hotel industry faces many challenges in managing revenue</a:t>
            </a:r>
          </a:p>
        </p:txBody>
      </p:sp>
      <p:sp>
        <p:nvSpPr>
          <p:cNvPr name="TextBox 17" id="17"/>
          <p:cNvSpPr txBox="true"/>
          <p:nvPr/>
        </p:nvSpPr>
        <p:spPr>
          <a:xfrm rot="0">
            <a:off x="3000461" y="6678284"/>
            <a:ext cx="10336078" cy="485775"/>
          </a:xfrm>
          <a:prstGeom prst="rect">
            <a:avLst/>
          </a:prstGeom>
        </p:spPr>
        <p:txBody>
          <a:bodyPr anchor="t" rtlCol="false" tIns="0" lIns="0" bIns="0" rIns="0">
            <a:spAutoFit/>
          </a:bodyPr>
          <a:lstStyle/>
          <a:p>
            <a:pPr algn="l">
              <a:lnSpc>
                <a:spcPts val="3870"/>
              </a:lnSpc>
            </a:pPr>
            <a:r>
              <a:rPr lang="en-US" b="true" sz="3225" spc="71">
                <a:solidFill>
                  <a:srgbClr val="04092F"/>
                </a:solidFill>
                <a:latin typeface="Trebuchet MS Bold"/>
                <a:ea typeface="Trebuchet MS Bold"/>
                <a:cs typeface="Trebuchet MS Bold"/>
                <a:sym typeface="Trebuchet MS Bold"/>
              </a:rPr>
              <a:t>Revenue Challenges	  Traditional methods</a:t>
            </a:r>
          </a:p>
        </p:txBody>
      </p:sp>
      <p:sp>
        <p:nvSpPr>
          <p:cNvPr name="TextBox 18" id="18"/>
          <p:cNvSpPr txBox="true"/>
          <p:nvPr/>
        </p:nvSpPr>
        <p:spPr>
          <a:xfrm rot="0">
            <a:off x="7544472" y="7302641"/>
            <a:ext cx="3908425" cy="1317625"/>
          </a:xfrm>
          <a:prstGeom prst="rect">
            <a:avLst/>
          </a:prstGeom>
        </p:spPr>
        <p:txBody>
          <a:bodyPr anchor="t" rtlCol="false" tIns="0" lIns="0" bIns="0" rIns="0">
            <a:spAutoFit/>
          </a:bodyPr>
          <a:lstStyle/>
          <a:p>
            <a:pPr algn="ctr">
              <a:lnSpc>
                <a:spcPts val="3373"/>
              </a:lnSpc>
            </a:pPr>
            <a:r>
              <a:rPr lang="en-US" sz="2649" spc="2">
                <a:solidFill>
                  <a:srgbClr val="04092F"/>
                </a:solidFill>
                <a:latin typeface="Tomorrow"/>
                <a:ea typeface="Tomorrow"/>
                <a:cs typeface="Tomorrow"/>
                <a:sym typeface="Tomorrow"/>
              </a:rPr>
              <a:t>Manual forecasting and fixed pricing limit flexibility.</a:t>
            </a:r>
          </a:p>
        </p:txBody>
      </p:sp>
      <p:sp>
        <p:nvSpPr>
          <p:cNvPr name="TextBox 19" id="19"/>
          <p:cNvSpPr txBox="true"/>
          <p:nvPr/>
        </p:nvSpPr>
        <p:spPr>
          <a:xfrm rot="0">
            <a:off x="12091072" y="6668759"/>
            <a:ext cx="3364229" cy="1754890"/>
          </a:xfrm>
          <a:prstGeom prst="rect">
            <a:avLst/>
          </a:prstGeom>
        </p:spPr>
        <p:txBody>
          <a:bodyPr anchor="t" rtlCol="false" tIns="0" lIns="0" bIns="0" rIns="0">
            <a:spAutoFit/>
          </a:bodyPr>
          <a:lstStyle/>
          <a:p>
            <a:pPr algn="l">
              <a:lnSpc>
                <a:spcPts val="3779"/>
              </a:lnSpc>
            </a:pPr>
            <a:r>
              <a:rPr lang="en-US" b="true" sz="3150" spc="85">
                <a:solidFill>
                  <a:srgbClr val="04092F"/>
                </a:solidFill>
                <a:latin typeface="Trebuchet MS Bold"/>
                <a:ea typeface="Trebuchet MS Bold"/>
                <a:cs typeface="Trebuchet MS Bold"/>
                <a:sym typeface="Trebuchet MS Bold"/>
              </a:rPr>
              <a:t>     </a:t>
            </a:r>
            <a:r>
              <a:rPr lang="en-US" b="true" sz="3150" spc="85">
                <a:solidFill>
                  <a:srgbClr val="04092F"/>
                </a:solidFill>
                <a:latin typeface="Trebuchet MS Bold"/>
                <a:ea typeface="Trebuchet MS Bold"/>
                <a:cs typeface="Trebuchet MS Bold"/>
                <a:sym typeface="Trebuchet MS Bold"/>
              </a:rPr>
              <a:t>Role of AI</a:t>
            </a:r>
          </a:p>
          <a:p>
            <a:pPr algn="ctr">
              <a:lnSpc>
                <a:spcPts val="3443"/>
              </a:lnSpc>
            </a:pPr>
            <a:r>
              <a:rPr lang="en-US" sz="2649" spc="-7">
                <a:solidFill>
                  <a:srgbClr val="04092F"/>
                </a:solidFill>
                <a:latin typeface="Tomorrow"/>
                <a:ea typeface="Tomorrow"/>
                <a:cs typeface="Tomorrow"/>
                <a:sym typeface="Tomorrow"/>
              </a:rPr>
              <a:t>AI helps hotels make smarter and faster decisions.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497622"/>
            <a:ext cx="18288000" cy="9789795"/>
            <a:chOff x="0" y="0"/>
            <a:chExt cx="24384000" cy="13053060"/>
          </a:xfrm>
        </p:grpSpPr>
        <p:sp>
          <p:nvSpPr>
            <p:cNvPr name="Freeform 3" id="3"/>
            <p:cNvSpPr/>
            <p:nvPr/>
          </p:nvSpPr>
          <p:spPr>
            <a:xfrm flipH="false" flipV="false" rot="0">
              <a:off x="0" y="0"/>
              <a:ext cx="24384000" cy="13052552"/>
            </a:xfrm>
            <a:custGeom>
              <a:avLst/>
              <a:gdLst/>
              <a:ahLst/>
              <a:cxnLst/>
              <a:rect r="r" b="b" t="t" l="l"/>
              <a:pathLst>
                <a:path h="13052552" w="24384000">
                  <a:moveTo>
                    <a:pt x="0" y="13052552"/>
                  </a:moveTo>
                  <a:lnTo>
                    <a:pt x="24384000" y="13052552"/>
                  </a:lnTo>
                  <a:lnTo>
                    <a:pt x="24384000" y="0"/>
                  </a:lnTo>
                  <a:lnTo>
                    <a:pt x="0" y="0"/>
                  </a:lnTo>
                  <a:lnTo>
                    <a:pt x="0" y="13052552"/>
                  </a:lnTo>
                  <a:close/>
                </a:path>
              </a:pathLst>
            </a:custGeom>
            <a:solidFill>
              <a:srgbClr val="F4F5FB"/>
            </a:solidFill>
          </p:spPr>
        </p:sp>
      </p:grpSp>
      <p:grpSp>
        <p:nvGrpSpPr>
          <p:cNvPr name="Group 4" id="4"/>
          <p:cNvGrpSpPr/>
          <p:nvPr/>
        </p:nvGrpSpPr>
        <p:grpSpPr>
          <a:xfrm rot="0">
            <a:off x="0" y="0"/>
            <a:ext cx="18288000" cy="497840"/>
            <a:chOff x="0" y="0"/>
            <a:chExt cx="24384000" cy="663787"/>
          </a:xfrm>
        </p:grpSpPr>
        <p:sp>
          <p:nvSpPr>
            <p:cNvPr name="Freeform 5" id="5"/>
            <p:cNvSpPr/>
            <p:nvPr/>
          </p:nvSpPr>
          <p:spPr>
            <a:xfrm flipH="false" flipV="false" rot="0">
              <a:off x="0" y="0"/>
              <a:ext cx="24383492" cy="663448"/>
            </a:xfrm>
            <a:custGeom>
              <a:avLst/>
              <a:gdLst/>
              <a:ahLst/>
              <a:cxnLst/>
              <a:rect r="r" b="b" t="t" l="l"/>
              <a:pathLst>
                <a:path h="663448" w="24383492">
                  <a:moveTo>
                    <a:pt x="24383492" y="663448"/>
                  </a:moveTo>
                  <a:lnTo>
                    <a:pt x="0" y="663448"/>
                  </a:lnTo>
                  <a:lnTo>
                    <a:pt x="0" y="0"/>
                  </a:lnTo>
                  <a:lnTo>
                    <a:pt x="24383492" y="0"/>
                  </a:lnTo>
                  <a:lnTo>
                    <a:pt x="24383492" y="663448"/>
                  </a:lnTo>
                  <a:close/>
                </a:path>
              </a:pathLst>
            </a:custGeom>
            <a:solidFill>
              <a:srgbClr val="FDD02E"/>
            </a:solidFill>
          </p:spPr>
        </p:sp>
      </p:grpSp>
      <p:grpSp>
        <p:nvGrpSpPr>
          <p:cNvPr name="Group 6" id="6"/>
          <p:cNvGrpSpPr>
            <a:grpSpLocks noChangeAspect="true"/>
          </p:cNvGrpSpPr>
          <p:nvPr/>
        </p:nvGrpSpPr>
        <p:grpSpPr>
          <a:xfrm rot="0">
            <a:off x="10956169" y="1557337"/>
            <a:ext cx="6486524" cy="6486524"/>
            <a:chOff x="0" y="0"/>
            <a:chExt cx="8648699" cy="8648699"/>
          </a:xfrm>
        </p:grpSpPr>
        <p:sp>
          <p:nvSpPr>
            <p:cNvPr name="Freeform 7" id="7"/>
            <p:cNvSpPr/>
            <p:nvPr/>
          </p:nvSpPr>
          <p:spPr>
            <a:xfrm flipH="false" flipV="false" rot="0">
              <a:off x="0" y="0"/>
              <a:ext cx="8648700" cy="8648700"/>
            </a:xfrm>
            <a:custGeom>
              <a:avLst/>
              <a:gdLst/>
              <a:ahLst/>
              <a:cxnLst/>
              <a:rect r="r" b="b" t="t" l="l"/>
              <a:pathLst>
                <a:path h="8648700" w="8648700">
                  <a:moveTo>
                    <a:pt x="0" y="0"/>
                  </a:moveTo>
                  <a:lnTo>
                    <a:pt x="8648700" y="0"/>
                  </a:lnTo>
                  <a:lnTo>
                    <a:pt x="8648700" y="8648700"/>
                  </a:lnTo>
                  <a:lnTo>
                    <a:pt x="0" y="8648700"/>
                  </a:lnTo>
                  <a:lnTo>
                    <a:pt x="0" y="0"/>
                  </a:lnTo>
                  <a:close/>
                </a:path>
              </a:pathLst>
            </a:custGeom>
            <a:blipFill>
              <a:blip r:embed="rId2"/>
              <a:stretch>
                <a:fillRect l="0" t="0" r="0" b="0"/>
              </a:stretch>
            </a:blipFill>
          </p:spPr>
        </p:sp>
      </p:grpSp>
      <p:sp>
        <p:nvSpPr>
          <p:cNvPr name="TextBox 8" id="8"/>
          <p:cNvSpPr txBox="true"/>
          <p:nvPr/>
        </p:nvSpPr>
        <p:spPr>
          <a:xfrm rot="0">
            <a:off x="571675" y="977931"/>
            <a:ext cx="9065260" cy="1079500"/>
          </a:xfrm>
          <a:prstGeom prst="rect">
            <a:avLst/>
          </a:prstGeom>
        </p:spPr>
        <p:txBody>
          <a:bodyPr anchor="t" rtlCol="false" tIns="0" lIns="0" bIns="0" rIns="0">
            <a:spAutoFit/>
          </a:bodyPr>
          <a:lstStyle/>
          <a:p>
            <a:pPr algn="l">
              <a:lnSpc>
                <a:spcPts val="8400"/>
              </a:lnSpc>
            </a:pPr>
            <a:r>
              <a:rPr lang="en-US" b="true" sz="7000" spc="135">
                <a:solidFill>
                  <a:srgbClr val="12183C"/>
                </a:solidFill>
                <a:latin typeface="Tahoma Bold"/>
                <a:ea typeface="Tahoma Bold"/>
                <a:cs typeface="Tahoma Bold"/>
                <a:sym typeface="Tahoma Bold"/>
              </a:rPr>
              <a:t>Problem Statement</a:t>
            </a:r>
          </a:p>
        </p:txBody>
      </p:sp>
      <p:sp>
        <p:nvSpPr>
          <p:cNvPr name="TextBox 9" id="9"/>
          <p:cNvSpPr txBox="true"/>
          <p:nvPr/>
        </p:nvSpPr>
        <p:spPr>
          <a:xfrm rot="0">
            <a:off x="571675" y="2393213"/>
            <a:ext cx="9911080" cy="4955540"/>
          </a:xfrm>
          <a:prstGeom prst="rect">
            <a:avLst/>
          </a:prstGeom>
        </p:spPr>
        <p:txBody>
          <a:bodyPr anchor="t" rtlCol="false" tIns="0" lIns="0" bIns="0" rIns="0">
            <a:spAutoFit/>
          </a:bodyPr>
          <a:lstStyle/>
          <a:p>
            <a:pPr algn="l">
              <a:lnSpc>
                <a:spcPts val="3682"/>
              </a:lnSpc>
            </a:pPr>
            <a:r>
              <a:rPr lang="en-US" b="true" sz="2799" spc="80">
                <a:solidFill>
                  <a:srgbClr val="12183C"/>
                </a:solidFill>
                <a:latin typeface="Trebuchet MS Bold"/>
                <a:ea typeface="Trebuchet MS Bold"/>
                <a:cs typeface="Trebuchet MS Bold"/>
                <a:sym typeface="Trebuchet MS Bold"/>
              </a:rPr>
              <a:t>THE MAIN OBJECTIVE OF OUR PROJECT IS TOO ANALYZE HOTEL REVENUE, BOOKING TRENDS, AND CUSTOMER BEHAVIOR USING DATA VISUALIZATION TOOLS LIKE POWER BI AND EXCEL.</a:t>
            </a:r>
          </a:p>
          <a:p>
            <a:pPr algn="just">
              <a:lnSpc>
                <a:spcPts val="3524"/>
              </a:lnSpc>
            </a:pPr>
            <a:r>
              <a:rPr lang="en-US" sz="2750" spc="2">
                <a:solidFill>
                  <a:srgbClr val="12183C"/>
                </a:solidFill>
                <a:latin typeface="Tomorrow"/>
                <a:ea typeface="Tomorrow"/>
                <a:cs typeface="Tomorrow"/>
                <a:sym typeface="Tomorrow"/>
              </a:rPr>
              <a:t>Hotels  face  challenges  in  managing  large  amounts  of booking  and  revenue  data  efficiently.  Manual  analysis limits  their  ability  to  identify  key  trends  and  predict demand accurately. HotelRevAI provides a data-driven solution that delivers clear insights for smarter decisions and improved profitability.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7819370" cy="10287000"/>
            <a:chOff x="0" y="0"/>
            <a:chExt cx="23759160" cy="13716000"/>
          </a:xfrm>
        </p:grpSpPr>
        <p:sp>
          <p:nvSpPr>
            <p:cNvPr name="Freeform 3" id="3"/>
            <p:cNvSpPr/>
            <p:nvPr/>
          </p:nvSpPr>
          <p:spPr>
            <a:xfrm flipH="false" flipV="false" rot="0">
              <a:off x="0" y="0"/>
              <a:ext cx="23758652" cy="13716000"/>
            </a:xfrm>
            <a:custGeom>
              <a:avLst/>
              <a:gdLst/>
              <a:ahLst/>
              <a:cxnLst/>
              <a:rect r="r" b="b" t="t" l="l"/>
              <a:pathLst>
                <a:path h="13716000" w="23758652">
                  <a:moveTo>
                    <a:pt x="0" y="13716000"/>
                  </a:moveTo>
                  <a:lnTo>
                    <a:pt x="23758652" y="13716000"/>
                  </a:lnTo>
                  <a:lnTo>
                    <a:pt x="23758652" y="0"/>
                  </a:lnTo>
                  <a:lnTo>
                    <a:pt x="0" y="0"/>
                  </a:lnTo>
                  <a:lnTo>
                    <a:pt x="0" y="13716000"/>
                  </a:lnTo>
                  <a:close/>
                </a:path>
              </a:pathLst>
            </a:custGeom>
            <a:solidFill>
              <a:srgbClr val="F4F5FB"/>
            </a:solidFill>
          </p:spPr>
        </p:sp>
      </p:grpSp>
      <p:grpSp>
        <p:nvGrpSpPr>
          <p:cNvPr name="Group 4" id="4"/>
          <p:cNvGrpSpPr>
            <a:grpSpLocks noChangeAspect="true"/>
          </p:cNvGrpSpPr>
          <p:nvPr/>
        </p:nvGrpSpPr>
        <p:grpSpPr>
          <a:xfrm rot="0">
            <a:off x="8979429" y="3217141"/>
            <a:ext cx="904874" cy="1104899"/>
            <a:chOff x="0" y="0"/>
            <a:chExt cx="1206499" cy="1473199"/>
          </a:xfrm>
        </p:grpSpPr>
        <p:sp>
          <p:nvSpPr>
            <p:cNvPr name="Freeform 5" id="5"/>
            <p:cNvSpPr/>
            <p:nvPr/>
          </p:nvSpPr>
          <p:spPr>
            <a:xfrm flipH="false" flipV="false" rot="0">
              <a:off x="0" y="0"/>
              <a:ext cx="1206500" cy="1473200"/>
            </a:xfrm>
            <a:custGeom>
              <a:avLst/>
              <a:gdLst/>
              <a:ahLst/>
              <a:cxnLst/>
              <a:rect r="r" b="b" t="t" l="l"/>
              <a:pathLst>
                <a:path h="1473200" w="1206500">
                  <a:moveTo>
                    <a:pt x="0" y="0"/>
                  </a:moveTo>
                  <a:lnTo>
                    <a:pt x="1206500" y="0"/>
                  </a:lnTo>
                  <a:lnTo>
                    <a:pt x="1206500" y="1473200"/>
                  </a:lnTo>
                  <a:lnTo>
                    <a:pt x="0" y="1473200"/>
                  </a:lnTo>
                  <a:lnTo>
                    <a:pt x="0" y="0"/>
                  </a:lnTo>
                  <a:close/>
                </a:path>
              </a:pathLst>
            </a:custGeom>
            <a:blipFill>
              <a:blip r:embed="rId2"/>
              <a:stretch>
                <a:fillRect l="0" t="-47" r="0" b="-47"/>
              </a:stretch>
            </a:blipFill>
          </p:spPr>
        </p:sp>
      </p:grpSp>
      <p:grpSp>
        <p:nvGrpSpPr>
          <p:cNvPr name="Group 6" id="6"/>
          <p:cNvGrpSpPr>
            <a:grpSpLocks noChangeAspect="true"/>
          </p:cNvGrpSpPr>
          <p:nvPr/>
        </p:nvGrpSpPr>
        <p:grpSpPr>
          <a:xfrm rot="0">
            <a:off x="8979429" y="6100553"/>
            <a:ext cx="904874" cy="1104899"/>
            <a:chOff x="0" y="0"/>
            <a:chExt cx="1206499" cy="1473199"/>
          </a:xfrm>
        </p:grpSpPr>
        <p:sp>
          <p:nvSpPr>
            <p:cNvPr name="Freeform 7" id="7"/>
            <p:cNvSpPr/>
            <p:nvPr/>
          </p:nvSpPr>
          <p:spPr>
            <a:xfrm flipH="false" flipV="false" rot="0">
              <a:off x="0" y="0"/>
              <a:ext cx="1206500" cy="1473200"/>
            </a:xfrm>
            <a:custGeom>
              <a:avLst/>
              <a:gdLst/>
              <a:ahLst/>
              <a:cxnLst/>
              <a:rect r="r" b="b" t="t" l="l"/>
              <a:pathLst>
                <a:path h="1473200" w="1206500">
                  <a:moveTo>
                    <a:pt x="0" y="0"/>
                  </a:moveTo>
                  <a:lnTo>
                    <a:pt x="1206500" y="0"/>
                  </a:lnTo>
                  <a:lnTo>
                    <a:pt x="1206500" y="1473200"/>
                  </a:lnTo>
                  <a:lnTo>
                    <a:pt x="0" y="1473200"/>
                  </a:lnTo>
                  <a:lnTo>
                    <a:pt x="0" y="0"/>
                  </a:lnTo>
                  <a:close/>
                </a:path>
              </a:pathLst>
            </a:custGeom>
            <a:blipFill>
              <a:blip r:embed="rId2"/>
              <a:stretch>
                <a:fillRect l="0" t="-47" r="0" b="-47"/>
              </a:stretch>
            </a:blipFill>
          </p:spPr>
        </p:sp>
      </p:grpSp>
      <p:grpSp>
        <p:nvGrpSpPr>
          <p:cNvPr name="Group 8" id="8"/>
          <p:cNvGrpSpPr/>
          <p:nvPr/>
        </p:nvGrpSpPr>
        <p:grpSpPr>
          <a:xfrm rot="0">
            <a:off x="17818988" y="0"/>
            <a:ext cx="469265" cy="10287635"/>
            <a:chOff x="0" y="0"/>
            <a:chExt cx="625687" cy="13716847"/>
          </a:xfrm>
        </p:grpSpPr>
        <p:sp>
          <p:nvSpPr>
            <p:cNvPr name="Freeform 9" id="9"/>
            <p:cNvSpPr/>
            <p:nvPr/>
          </p:nvSpPr>
          <p:spPr>
            <a:xfrm flipH="false" flipV="false" rot="0">
              <a:off x="0" y="0"/>
              <a:ext cx="625348" cy="13716127"/>
            </a:xfrm>
            <a:custGeom>
              <a:avLst/>
              <a:gdLst/>
              <a:ahLst/>
              <a:cxnLst/>
              <a:rect r="r" b="b" t="t" l="l"/>
              <a:pathLst>
                <a:path h="13716127" w="625348">
                  <a:moveTo>
                    <a:pt x="625348" y="13716127"/>
                  </a:moveTo>
                  <a:lnTo>
                    <a:pt x="0" y="13716127"/>
                  </a:lnTo>
                  <a:lnTo>
                    <a:pt x="0" y="0"/>
                  </a:lnTo>
                  <a:lnTo>
                    <a:pt x="625348" y="0"/>
                  </a:lnTo>
                  <a:lnTo>
                    <a:pt x="625348" y="13716127"/>
                  </a:lnTo>
                  <a:close/>
                </a:path>
              </a:pathLst>
            </a:custGeom>
            <a:solidFill>
              <a:srgbClr val="7D58F0"/>
            </a:solidFill>
          </p:spPr>
        </p:sp>
      </p:grpSp>
      <p:grpSp>
        <p:nvGrpSpPr>
          <p:cNvPr name="Group 10" id="10"/>
          <p:cNvGrpSpPr>
            <a:grpSpLocks noChangeAspect="true"/>
          </p:cNvGrpSpPr>
          <p:nvPr/>
        </p:nvGrpSpPr>
        <p:grpSpPr>
          <a:xfrm rot="0">
            <a:off x="720442" y="2233276"/>
            <a:ext cx="6457949" cy="4324349"/>
            <a:chOff x="0" y="0"/>
            <a:chExt cx="8610599" cy="5765799"/>
          </a:xfrm>
        </p:grpSpPr>
        <p:sp>
          <p:nvSpPr>
            <p:cNvPr name="Freeform 11" id="11"/>
            <p:cNvSpPr/>
            <p:nvPr/>
          </p:nvSpPr>
          <p:spPr>
            <a:xfrm flipH="false" flipV="false" rot="0">
              <a:off x="0" y="0"/>
              <a:ext cx="8610600" cy="5765800"/>
            </a:xfrm>
            <a:custGeom>
              <a:avLst/>
              <a:gdLst/>
              <a:ahLst/>
              <a:cxnLst/>
              <a:rect r="r" b="b" t="t" l="l"/>
              <a:pathLst>
                <a:path h="5765800" w="8610600">
                  <a:moveTo>
                    <a:pt x="0" y="0"/>
                  </a:moveTo>
                  <a:lnTo>
                    <a:pt x="8610600" y="0"/>
                  </a:lnTo>
                  <a:lnTo>
                    <a:pt x="8610600" y="5765800"/>
                  </a:lnTo>
                  <a:lnTo>
                    <a:pt x="0" y="5765800"/>
                  </a:lnTo>
                  <a:lnTo>
                    <a:pt x="0" y="0"/>
                  </a:lnTo>
                  <a:close/>
                </a:path>
              </a:pathLst>
            </a:custGeom>
            <a:blipFill>
              <a:blip r:embed="rId3"/>
              <a:stretch>
                <a:fillRect l="-3" t="0" r="-3" b="0"/>
              </a:stretch>
            </a:blipFill>
          </p:spPr>
        </p:sp>
      </p:grpSp>
      <p:sp>
        <p:nvSpPr>
          <p:cNvPr name="TextBox 12" id="12"/>
          <p:cNvSpPr txBox="true"/>
          <p:nvPr/>
        </p:nvSpPr>
        <p:spPr>
          <a:xfrm rot="0">
            <a:off x="8966729" y="968406"/>
            <a:ext cx="6877684" cy="1089025"/>
          </a:xfrm>
          <a:prstGeom prst="rect">
            <a:avLst/>
          </a:prstGeom>
        </p:spPr>
        <p:txBody>
          <a:bodyPr anchor="t" rtlCol="false" tIns="0" lIns="0" bIns="0" rIns="0">
            <a:spAutoFit/>
          </a:bodyPr>
          <a:lstStyle/>
          <a:p>
            <a:pPr algn="l">
              <a:lnSpc>
                <a:spcPts val="8400"/>
              </a:lnSpc>
            </a:pPr>
            <a:r>
              <a:rPr lang="en-US" b="true" sz="7000" spc="-400">
                <a:solidFill>
                  <a:srgbClr val="12183C"/>
                </a:solidFill>
                <a:latin typeface="Verdana Bold"/>
                <a:ea typeface="Verdana Bold"/>
                <a:cs typeface="Verdana Bold"/>
                <a:sym typeface="Verdana Bold"/>
              </a:rPr>
              <a:t>Better Solution</a:t>
            </a:r>
          </a:p>
        </p:txBody>
      </p:sp>
      <p:sp>
        <p:nvSpPr>
          <p:cNvPr name="TextBox 13" id="13"/>
          <p:cNvSpPr txBox="true"/>
          <p:nvPr/>
        </p:nvSpPr>
        <p:spPr>
          <a:xfrm rot="0">
            <a:off x="10217969" y="2656441"/>
            <a:ext cx="6956425" cy="5287645"/>
          </a:xfrm>
          <a:prstGeom prst="rect">
            <a:avLst/>
          </a:prstGeom>
        </p:spPr>
        <p:txBody>
          <a:bodyPr anchor="t" rtlCol="false" tIns="0" lIns="0" bIns="0" rIns="0">
            <a:spAutoFit/>
          </a:bodyPr>
          <a:lstStyle/>
          <a:p>
            <a:pPr algn="l">
              <a:lnSpc>
                <a:spcPts val="3898"/>
              </a:lnSpc>
            </a:pPr>
            <a:r>
              <a:rPr lang="en-US" b="true" sz="3000" spc="200">
                <a:solidFill>
                  <a:srgbClr val="12183C"/>
                </a:solidFill>
                <a:latin typeface="Trebuchet MS Bold"/>
                <a:ea typeface="Trebuchet MS Bold"/>
                <a:cs typeface="Trebuchet MS Bold"/>
                <a:sym typeface="Trebuchet MS Bold"/>
              </a:rPr>
              <a:t>AI-powered revenue analysis platform</a:t>
            </a:r>
          </a:p>
          <a:p>
            <a:pPr algn="l">
              <a:lnSpc>
                <a:spcPts val="3898"/>
              </a:lnSpc>
            </a:pPr>
            <a:r>
              <a:rPr lang="en-US" sz="3000" spc="-6">
                <a:solidFill>
                  <a:srgbClr val="12183C"/>
                </a:solidFill>
                <a:latin typeface="Tomorrow"/>
                <a:ea typeface="Tomorrow"/>
                <a:cs typeface="Tomorrow"/>
                <a:sym typeface="Tomorrow"/>
              </a:rPr>
              <a:t>Uses artificial intelligence to analyze hotel data and improve revenue decisions.</a:t>
            </a:r>
          </a:p>
          <a:p>
            <a:pPr algn="l">
              <a:lnSpc>
                <a:spcPts val="3600"/>
              </a:lnSpc>
            </a:pPr>
            <a:r>
              <a:rPr lang="en-US" b="true" sz="3000" spc="225">
                <a:solidFill>
                  <a:srgbClr val="12183C"/>
                </a:solidFill>
                <a:latin typeface="Trebuchet MS Bold"/>
                <a:ea typeface="Trebuchet MS Bold"/>
                <a:cs typeface="Trebuchet MS Bold"/>
                <a:sym typeface="Trebuchet MS Bold"/>
              </a:rPr>
              <a:t>Real-time dashboard and analytics</a:t>
            </a:r>
          </a:p>
          <a:p>
            <a:pPr algn="l">
              <a:lnSpc>
                <a:spcPts val="3898"/>
              </a:lnSpc>
            </a:pPr>
            <a:r>
              <a:rPr lang="en-US" sz="3000" spc="-6">
                <a:solidFill>
                  <a:srgbClr val="12183C"/>
                </a:solidFill>
                <a:latin typeface="Tomorrow"/>
                <a:ea typeface="Tomorrow"/>
                <a:cs typeface="Tomorrow"/>
                <a:sym typeface="Tomorrow"/>
              </a:rPr>
              <a:t>Provides live insights and visual reports for better business decisions.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9789577"/>
          </a:xfrm>
          <a:custGeom>
            <a:avLst/>
            <a:gdLst/>
            <a:ahLst/>
            <a:cxnLst/>
            <a:rect r="r" b="b" t="t" l="l"/>
            <a:pathLst>
              <a:path h="9789577" w="18288000">
                <a:moveTo>
                  <a:pt x="0" y="0"/>
                </a:moveTo>
                <a:lnTo>
                  <a:pt x="18288000" y="0"/>
                </a:lnTo>
                <a:lnTo>
                  <a:pt x="18288000" y="9789577"/>
                </a:lnTo>
                <a:lnTo>
                  <a:pt x="0" y="97895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71675" y="1450615"/>
            <a:ext cx="17144648" cy="1420493"/>
          </a:xfrm>
          <a:prstGeom prst="rect">
            <a:avLst/>
          </a:prstGeom>
        </p:spPr>
        <p:txBody>
          <a:bodyPr anchor="t" rtlCol="false" tIns="0" lIns="0" bIns="0" rIns="0">
            <a:spAutoFit/>
          </a:bodyPr>
          <a:lstStyle/>
          <a:p>
            <a:pPr algn="l">
              <a:lnSpc>
                <a:spcPts val="8400"/>
              </a:lnSpc>
            </a:pPr>
            <a:r>
              <a:rPr lang="en-US" b="true" sz="7000" spc="-459">
                <a:solidFill>
                  <a:srgbClr val="12183C"/>
                </a:solidFill>
                <a:latin typeface="Verdana Bold"/>
                <a:ea typeface="Verdana Bold"/>
                <a:cs typeface="Verdana Bold"/>
                <a:sym typeface="Verdana Bold"/>
              </a:rPr>
              <a:t>KEY TECHNOLOGIES</a:t>
            </a:r>
          </a:p>
        </p:txBody>
      </p:sp>
      <p:grpSp>
        <p:nvGrpSpPr>
          <p:cNvPr name="Group 4" id="4"/>
          <p:cNvGrpSpPr/>
          <p:nvPr/>
        </p:nvGrpSpPr>
        <p:grpSpPr>
          <a:xfrm rot="0">
            <a:off x="0" y="9789377"/>
            <a:ext cx="18288000" cy="497840"/>
            <a:chOff x="0" y="0"/>
            <a:chExt cx="24384000" cy="663787"/>
          </a:xfrm>
        </p:grpSpPr>
        <p:sp>
          <p:nvSpPr>
            <p:cNvPr name="Freeform 5" id="5"/>
            <p:cNvSpPr/>
            <p:nvPr/>
          </p:nvSpPr>
          <p:spPr>
            <a:xfrm flipH="false" flipV="false" rot="0">
              <a:off x="0" y="0"/>
              <a:ext cx="24383492" cy="663448"/>
            </a:xfrm>
            <a:custGeom>
              <a:avLst/>
              <a:gdLst/>
              <a:ahLst/>
              <a:cxnLst/>
              <a:rect r="r" b="b" t="t" l="l"/>
              <a:pathLst>
                <a:path h="663448" w="24383492">
                  <a:moveTo>
                    <a:pt x="24383492" y="663448"/>
                  </a:moveTo>
                  <a:lnTo>
                    <a:pt x="0" y="663448"/>
                  </a:lnTo>
                  <a:lnTo>
                    <a:pt x="0" y="0"/>
                  </a:lnTo>
                  <a:lnTo>
                    <a:pt x="24383492" y="0"/>
                  </a:lnTo>
                  <a:lnTo>
                    <a:pt x="24383492" y="663448"/>
                  </a:lnTo>
                  <a:close/>
                </a:path>
              </a:pathLst>
            </a:custGeom>
            <a:solidFill>
              <a:srgbClr val="FF801D"/>
            </a:solidFill>
          </p:spPr>
        </p:sp>
      </p:grpSp>
      <p:sp>
        <p:nvSpPr>
          <p:cNvPr name="TextBox 6" id="6"/>
          <p:cNvSpPr txBox="true"/>
          <p:nvPr/>
        </p:nvSpPr>
        <p:spPr>
          <a:xfrm rot="0">
            <a:off x="571010" y="2982712"/>
            <a:ext cx="15039975" cy="5297170"/>
          </a:xfrm>
          <a:prstGeom prst="rect">
            <a:avLst/>
          </a:prstGeom>
        </p:spPr>
        <p:txBody>
          <a:bodyPr anchor="t" rtlCol="false" tIns="0" lIns="0" bIns="0" rIns="0">
            <a:spAutoFit/>
          </a:bodyPr>
          <a:lstStyle/>
          <a:p>
            <a:pPr algn="l" marL="373697" indent="-186849" lvl="1">
              <a:lnSpc>
                <a:spcPts val="3660"/>
              </a:lnSpc>
              <a:buAutoNum type="arabicPeriod" startAt="1"/>
            </a:pPr>
            <a:r>
              <a:rPr lang="en-US" sz="3050" spc="-219">
                <a:solidFill>
                  <a:srgbClr val="12183C"/>
                </a:solidFill>
                <a:latin typeface="Arial"/>
                <a:ea typeface="Arial"/>
                <a:cs typeface="Arial"/>
                <a:sym typeface="Arial"/>
              </a:rPr>
              <a:t>Improved Forecasting Accuracy</a:t>
            </a:r>
          </a:p>
          <a:p>
            <a:pPr algn="l" marL="373697" indent="-186849" lvl="1">
              <a:lnSpc>
                <a:spcPts val="3660"/>
              </a:lnSpc>
            </a:pPr>
            <a:r>
              <a:rPr lang="en-US" sz="3050" spc="-219">
                <a:solidFill>
                  <a:srgbClr val="12183C"/>
                </a:solidFill>
                <a:latin typeface="Tahoma"/>
                <a:ea typeface="Tahoma"/>
                <a:cs typeface="Tahoma"/>
                <a:sym typeface="Tahoma"/>
              </a:rPr>
              <a:t>AI models predict demand more precisely, reducing overbooking or empty rooms.</a:t>
            </a:r>
          </a:p>
          <a:p>
            <a:pPr algn="l" marL="374332" indent="-187166" lvl="1">
              <a:lnSpc>
                <a:spcPts val="3660"/>
              </a:lnSpc>
              <a:buAutoNum type="arabicPeriod" startAt="1"/>
            </a:pPr>
            <a:r>
              <a:rPr lang="en-US" sz="3050" spc="-135">
                <a:solidFill>
                  <a:srgbClr val="12183C"/>
                </a:solidFill>
                <a:latin typeface="Arial"/>
                <a:ea typeface="Arial"/>
                <a:cs typeface="Arial"/>
                <a:sym typeface="Arial"/>
              </a:rPr>
              <a:t>Optimized Pricing Strategy</a:t>
            </a:r>
          </a:p>
          <a:p>
            <a:pPr algn="l" marL="374332" indent="-187166" lvl="1">
              <a:lnSpc>
                <a:spcPts val="3660"/>
              </a:lnSpc>
            </a:pPr>
            <a:r>
              <a:rPr lang="en-US" sz="3050" spc="-135">
                <a:solidFill>
                  <a:srgbClr val="12183C"/>
                </a:solidFill>
                <a:latin typeface="Tahoma"/>
                <a:ea typeface="Tahoma"/>
                <a:cs typeface="Tahoma"/>
                <a:sym typeface="Tahoma"/>
              </a:rPr>
              <a:t>Dynamic pricing ensures the best room rates for higher revenue and occupancy.</a:t>
            </a:r>
          </a:p>
          <a:p>
            <a:pPr algn="l" marL="374332" indent="-187166" lvl="1">
              <a:lnSpc>
                <a:spcPts val="3660"/>
              </a:lnSpc>
              <a:buAutoNum type="arabicPeriod" startAt="1"/>
            </a:pPr>
            <a:r>
              <a:rPr lang="en-US" sz="3050" spc="-35">
                <a:solidFill>
                  <a:srgbClr val="12183C"/>
                </a:solidFill>
                <a:latin typeface="Arial"/>
                <a:ea typeface="Arial"/>
                <a:cs typeface="Arial"/>
                <a:sym typeface="Arial"/>
              </a:rPr>
              <a:t>Better Occupancy Management</a:t>
            </a:r>
          </a:p>
          <a:p>
            <a:pPr algn="l" marL="374332" indent="-187166" lvl="1">
              <a:lnSpc>
                <a:spcPts val="3660"/>
              </a:lnSpc>
            </a:pPr>
            <a:r>
              <a:rPr lang="en-US" sz="3050" spc="-35">
                <a:solidFill>
                  <a:srgbClr val="12183C"/>
                </a:solidFill>
                <a:latin typeface="Tahoma"/>
                <a:ea typeface="Tahoma"/>
                <a:cs typeface="Tahoma"/>
                <a:sym typeface="Tahoma"/>
              </a:rPr>
              <a:t>Helps maintain a balance between room availability and profitability.</a:t>
            </a:r>
          </a:p>
          <a:p>
            <a:pPr algn="l" marL="374332" indent="-187166" lvl="1">
              <a:lnSpc>
                <a:spcPts val="3660"/>
              </a:lnSpc>
              <a:buAutoNum type="arabicPeriod" startAt="1"/>
            </a:pPr>
            <a:r>
              <a:rPr lang="en-US" sz="3050" spc="-54">
                <a:solidFill>
                  <a:srgbClr val="12183C"/>
                </a:solidFill>
                <a:latin typeface="Arial"/>
                <a:ea typeface="Arial"/>
                <a:cs typeface="Arial"/>
                <a:sym typeface="Arial"/>
              </a:rPr>
              <a:t>Data-driven Insights</a:t>
            </a:r>
          </a:p>
          <a:p>
            <a:pPr algn="l" marL="374332" indent="-187166" lvl="1">
              <a:lnSpc>
                <a:spcPts val="3660"/>
              </a:lnSpc>
            </a:pPr>
            <a:r>
              <a:rPr lang="en-US" sz="3050" spc="-54">
                <a:solidFill>
                  <a:srgbClr val="12183C"/>
                </a:solidFill>
                <a:latin typeface="Tahoma"/>
                <a:ea typeface="Tahoma"/>
                <a:cs typeface="Tahoma"/>
                <a:sym typeface="Tahoma"/>
              </a:rPr>
              <a:t>Provides clear analytics for smarter business and marketing decisions.</a:t>
            </a:r>
          </a:p>
          <a:p>
            <a:pPr algn="l" marL="374332" indent="-187166" lvl="1">
              <a:lnSpc>
                <a:spcPts val="3660"/>
              </a:lnSpc>
              <a:buAutoNum type="arabicPeriod" startAt="1"/>
            </a:pPr>
            <a:r>
              <a:rPr lang="en-US" sz="3050" spc="-120">
                <a:solidFill>
                  <a:srgbClr val="12183C"/>
                </a:solidFill>
                <a:latin typeface="Arial"/>
                <a:ea typeface="Arial"/>
                <a:cs typeface="Arial"/>
                <a:sym typeface="Arial"/>
              </a:rPr>
              <a:t>Enhanced Guest Experience</a:t>
            </a:r>
          </a:p>
          <a:p>
            <a:pPr algn="l" marL="374332" indent="-187166" lvl="1">
              <a:lnSpc>
                <a:spcPts val="3660"/>
              </a:lnSpc>
            </a:pPr>
            <a:r>
              <a:rPr lang="en-US" sz="3050" spc="-120">
                <a:solidFill>
                  <a:srgbClr val="12183C"/>
                </a:solidFill>
                <a:latin typeface="Tahoma"/>
                <a:ea typeface="Tahoma"/>
                <a:cs typeface="Tahoma"/>
                <a:sym typeface="Tahoma"/>
              </a:rPr>
              <a:t>Uses personalized offers and feedback analysis to improve customer satisfaction.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497622"/>
            <a:ext cx="18288000" cy="9789795"/>
            <a:chOff x="0" y="0"/>
            <a:chExt cx="24384000" cy="13053060"/>
          </a:xfrm>
        </p:grpSpPr>
        <p:sp>
          <p:nvSpPr>
            <p:cNvPr name="Freeform 3" id="3"/>
            <p:cNvSpPr/>
            <p:nvPr/>
          </p:nvSpPr>
          <p:spPr>
            <a:xfrm flipH="false" flipV="false" rot="0">
              <a:off x="0" y="0"/>
              <a:ext cx="24384000" cy="13052552"/>
            </a:xfrm>
            <a:custGeom>
              <a:avLst/>
              <a:gdLst/>
              <a:ahLst/>
              <a:cxnLst/>
              <a:rect r="r" b="b" t="t" l="l"/>
              <a:pathLst>
                <a:path h="13052552" w="24384000">
                  <a:moveTo>
                    <a:pt x="0" y="13052552"/>
                  </a:moveTo>
                  <a:lnTo>
                    <a:pt x="24384000" y="13052552"/>
                  </a:lnTo>
                  <a:lnTo>
                    <a:pt x="24384000" y="0"/>
                  </a:lnTo>
                  <a:lnTo>
                    <a:pt x="0" y="0"/>
                  </a:lnTo>
                  <a:lnTo>
                    <a:pt x="0" y="13052552"/>
                  </a:lnTo>
                  <a:close/>
                </a:path>
              </a:pathLst>
            </a:custGeom>
            <a:solidFill>
              <a:srgbClr val="F4F5FB"/>
            </a:solidFill>
          </p:spPr>
        </p:sp>
      </p:grpSp>
      <p:grpSp>
        <p:nvGrpSpPr>
          <p:cNvPr name="Group 4" id="4"/>
          <p:cNvGrpSpPr>
            <a:grpSpLocks noChangeAspect="true"/>
          </p:cNvGrpSpPr>
          <p:nvPr/>
        </p:nvGrpSpPr>
        <p:grpSpPr>
          <a:xfrm rot="0">
            <a:off x="10218212" y="497622"/>
            <a:ext cx="8067674" cy="9620248"/>
            <a:chOff x="0" y="0"/>
            <a:chExt cx="10756899" cy="12826997"/>
          </a:xfrm>
        </p:grpSpPr>
        <p:sp>
          <p:nvSpPr>
            <p:cNvPr name="Freeform 5" id="5"/>
            <p:cNvSpPr/>
            <p:nvPr/>
          </p:nvSpPr>
          <p:spPr>
            <a:xfrm flipH="false" flipV="false" rot="0">
              <a:off x="0" y="0"/>
              <a:ext cx="10756900" cy="12827000"/>
            </a:xfrm>
            <a:custGeom>
              <a:avLst/>
              <a:gdLst/>
              <a:ahLst/>
              <a:cxnLst/>
              <a:rect r="r" b="b" t="t" l="l"/>
              <a:pathLst>
                <a:path h="12827000" w="10756900">
                  <a:moveTo>
                    <a:pt x="0" y="0"/>
                  </a:moveTo>
                  <a:lnTo>
                    <a:pt x="10756900" y="0"/>
                  </a:lnTo>
                  <a:lnTo>
                    <a:pt x="10756900" y="12827000"/>
                  </a:lnTo>
                  <a:lnTo>
                    <a:pt x="0" y="12827000"/>
                  </a:lnTo>
                  <a:lnTo>
                    <a:pt x="0" y="0"/>
                  </a:lnTo>
                  <a:close/>
                </a:path>
              </a:pathLst>
            </a:custGeom>
            <a:blipFill>
              <a:blip r:embed="rId2"/>
              <a:stretch>
                <a:fillRect l="-73" t="0" r="-73" b="0"/>
              </a:stretch>
            </a:blipFill>
          </p:spPr>
        </p:sp>
      </p:grpSp>
      <p:grpSp>
        <p:nvGrpSpPr>
          <p:cNvPr name="Group 6" id="6"/>
          <p:cNvGrpSpPr/>
          <p:nvPr/>
        </p:nvGrpSpPr>
        <p:grpSpPr>
          <a:xfrm rot="0">
            <a:off x="0" y="0"/>
            <a:ext cx="18288000" cy="497840"/>
            <a:chOff x="0" y="0"/>
            <a:chExt cx="24384000" cy="663787"/>
          </a:xfrm>
        </p:grpSpPr>
        <p:sp>
          <p:nvSpPr>
            <p:cNvPr name="Freeform 7" id="7"/>
            <p:cNvSpPr/>
            <p:nvPr/>
          </p:nvSpPr>
          <p:spPr>
            <a:xfrm flipH="false" flipV="false" rot="0">
              <a:off x="0" y="0"/>
              <a:ext cx="24383492" cy="663448"/>
            </a:xfrm>
            <a:custGeom>
              <a:avLst/>
              <a:gdLst/>
              <a:ahLst/>
              <a:cxnLst/>
              <a:rect r="r" b="b" t="t" l="l"/>
              <a:pathLst>
                <a:path h="663448" w="24383492">
                  <a:moveTo>
                    <a:pt x="24383492" y="663448"/>
                  </a:moveTo>
                  <a:lnTo>
                    <a:pt x="0" y="663448"/>
                  </a:lnTo>
                  <a:lnTo>
                    <a:pt x="0" y="0"/>
                  </a:lnTo>
                  <a:lnTo>
                    <a:pt x="24383492" y="0"/>
                  </a:lnTo>
                  <a:lnTo>
                    <a:pt x="24383492" y="663448"/>
                  </a:lnTo>
                  <a:close/>
                </a:path>
              </a:pathLst>
            </a:custGeom>
            <a:solidFill>
              <a:srgbClr val="FF801D"/>
            </a:solidFill>
          </p:spPr>
        </p:sp>
      </p:grpSp>
      <p:sp>
        <p:nvSpPr>
          <p:cNvPr name="TextBox 8" id="8"/>
          <p:cNvSpPr txBox="true"/>
          <p:nvPr/>
        </p:nvSpPr>
        <p:spPr>
          <a:xfrm rot="0">
            <a:off x="571675" y="1470369"/>
            <a:ext cx="17144648" cy="1400739"/>
          </a:xfrm>
          <a:prstGeom prst="rect">
            <a:avLst/>
          </a:prstGeom>
        </p:spPr>
        <p:txBody>
          <a:bodyPr anchor="t" rtlCol="false" tIns="0" lIns="0" bIns="0" rIns="0">
            <a:spAutoFit/>
          </a:bodyPr>
          <a:lstStyle/>
          <a:p>
            <a:pPr algn="l">
              <a:lnSpc>
                <a:spcPts val="7559"/>
              </a:lnSpc>
            </a:pPr>
            <a:r>
              <a:rPr lang="en-US" b="true" sz="6300" spc="-459">
                <a:solidFill>
                  <a:srgbClr val="12183C"/>
                </a:solidFill>
                <a:latin typeface="Verdana Bold"/>
                <a:ea typeface="Verdana Bold"/>
                <a:cs typeface="Verdana Bold"/>
                <a:sym typeface="Verdana Bold"/>
              </a:rPr>
              <a:t>BENEFITS OF HOTEL</a:t>
            </a:r>
          </a:p>
        </p:txBody>
      </p:sp>
      <p:sp>
        <p:nvSpPr>
          <p:cNvPr name="TextBox 9" id="9"/>
          <p:cNvSpPr txBox="true"/>
          <p:nvPr/>
        </p:nvSpPr>
        <p:spPr>
          <a:xfrm rot="0">
            <a:off x="1380401" y="3346601"/>
            <a:ext cx="6263005" cy="3076575"/>
          </a:xfrm>
          <a:prstGeom prst="rect">
            <a:avLst/>
          </a:prstGeom>
        </p:spPr>
        <p:txBody>
          <a:bodyPr anchor="t" rtlCol="false" tIns="0" lIns="0" bIns="0" rIns="0">
            <a:spAutoFit/>
          </a:bodyPr>
          <a:lstStyle/>
          <a:p>
            <a:pPr algn="l">
              <a:lnSpc>
                <a:spcPts val="3719"/>
              </a:lnSpc>
            </a:pPr>
            <a:r>
              <a:rPr lang="en-US" sz="3099" spc="103">
                <a:solidFill>
                  <a:srgbClr val="12183C"/>
                </a:solidFill>
                <a:latin typeface="Tomorrow"/>
                <a:ea typeface="Tomorrow"/>
                <a:cs typeface="Tomorrow"/>
                <a:sym typeface="Tomorrow"/>
              </a:rPr>
              <a:t>Better Occupancy Management</a:t>
            </a:r>
          </a:p>
          <a:p>
            <a:pPr algn="l">
              <a:lnSpc>
                <a:spcPts val="7500"/>
              </a:lnSpc>
            </a:pPr>
            <a:r>
              <a:rPr lang="en-US" sz="3000" spc="3">
                <a:solidFill>
                  <a:srgbClr val="12183C"/>
                </a:solidFill>
                <a:latin typeface="Tomorrow"/>
                <a:ea typeface="Tomorrow"/>
                <a:cs typeface="Tomorrow"/>
                <a:sym typeface="Tomorrow"/>
              </a:rPr>
              <a:t>Data-Driven Competitive Insights Smart Pricing Optimization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497622"/>
            <a:ext cx="18288000" cy="9789795"/>
            <a:chOff x="0" y="0"/>
            <a:chExt cx="24384000" cy="13053060"/>
          </a:xfrm>
        </p:grpSpPr>
        <p:sp>
          <p:nvSpPr>
            <p:cNvPr name="Freeform 3" id="3"/>
            <p:cNvSpPr/>
            <p:nvPr/>
          </p:nvSpPr>
          <p:spPr>
            <a:xfrm flipH="false" flipV="false" rot="0">
              <a:off x="0" y="0"/>
              <a:ext cx="24384000" cy="13052552"/>
            </a:xfrm>
            <a:custGeom>
              <a:avLst/>
              <a:gdLst/>
              <a:ahLst/>
              <a:cxnLst/>
              <a:rect r="r" b="b" t="t" l="l"/>
              <a:pathLst>
                <a:path h="13052552" w="24384000">
                  <a:moveTo>
                    <a:pt x="0" y="13052552"/>
                  </a:moveTo>
                  <a:lnTo>
                    <a:pt x="24384000" y="13052552"/>
                  </a:lnTo>
                  <a:lnTo>
                    <a:pt x="24384000" y="0"/>
                  </a:lnTo>
                  <a:lnTo>
                    <a:pt x="0" y="0"/>
                  </a:lnTo>
                  <a:lnTo>
                    <a:pt x="0" y="13052552"/>
                  </a:lnTo>
                  <a:close/>
                </a:path>
              </a:pathLst>
            </a:custGeom>
            <a:solidFill>
              <a:srgbClr val="F4F5FB"/>
            </a:solidFill>
          </p:spPr>
        </p:sp>
      </p:grpSp>
      <p:sp>
        <p:nvSpPr>
          <p:cNvPr name="TextBox 4" id="4"/>
          <p:cNvSpPr txBox="true"/>
          <p:nvPr/>
        </p:nvSpPr>
        <p:spPr>
          <a:xfrm rot="0">
            <a:off x="571675" y="1695064"/>
            <a:ext cx="17144648" cy="885825"/>
          </a:xfrm>
          <a:prstGeom prst="rect">
            <a:avLst/>
          </a:prstGeom>
        </p:spPr>
        <p:txBody>
          <a:bodyPr anchor="t" rtlCol="false" tIns="0" lIns="0" bIns="0" rIns="0">
            <a:spAutoFit/>
          </a:bodyPr>
          <a:lstStyle/>
          <a:p>
            <a:pPr algn="l">
              <a:lnSpc>
                <a:spcPts val="7079"/>
              </a:lnSpc>
            </a:pPr>
            <a:r>
              <a:rPr lang="en-US" b="true" sz="5899" spc="-9">
                <a:solidFill>
                  <a:srgbClr val="12183C"/>
                </a:solidFill>
                <a:latin typeface="Tahoma Bold"/>
                <a:ea typeface="Tahoma Bold"/>
                <a:cs typeface="Tahoma Bold"/>
                <a:sym typeface="Tahoma Bold"/>
              </a:rPr>
              <a:t>USE CASE SCERNARIO</a:t>
            </a:r>
          </a:p>
        </p:txBody>
      </p:sp>
      <p:grpSp>
        <p:nvGrpSpPr>
          <p:cNvPr name="Group 5" id="5"/>
          <p:cNvGrpSpPr>
            <a:grpSpLocks noChangeAspect="true"/>
          </p:cNvGrpSpPr>
          <p:nvPr/>
        </p:nvGrpSpPr>
        <p:grpSpPr>
          <a:xfrm rot="0">
            <a:off x="1952495" y="3688901"/>
            <a:ext cx="152400" cy="152399"/>
            <a:chOff x="0" y="0"/>
            <a:chExt cx="203200" cy="203199"/>
          </a:xfrm>
        </p:grpSpPr>
        <p:sp>
          <p:nvSpPr>
            <p:cNvPr name="Freeform 6" id="6"/>
            <p:cNvSpPr/>
            <p:nvPr/>
          </p:nvSpPr>
          <p:spPr>
            <a:xfrm flipH="false" flipV="false" rot="0">
              <a:off x="0" y="0"/>
              <a:ext cx="203200" cy="203200"/>
            </a:xfrm>
            <a:custGeom>
              <a:avLst/>
              <a:gdLst/>
              <a:ahLst/>
              <a:cxnLst/>
              <a:rect r="r" b="b" t="t" l="l"/>
              <a:pathLst>
                <a:path h="203200" w="203200">
                  <a:moveTo>
                    <a:pt x="0" y="0"/>
                  </a:moveTo>
                  <a:lnTo>
                    <a:pt x="203200" y="0"/>
                  </a:lnTo>
                  <a:lnTo>
                    <a:pt x="203200" y="203200"/>
                  </a:lnTo>
                  <a:lnTo>
                    <a:pt x="0" y="203200"/>
                  </a:lnTo>
                  <a:lnTo>
                    <a:pt x="0" y="0"/>
                  </a:lnTo>
                  <a:close/>
                </a:path>
              </a:pathLst>
            </a:custGeom>
            <a:blipFill>
              <a:blip r:embed="rId2"/>
              <a:stretch>
                <a:fillRect l="0" t="0" r="0" b="0"/>
              </a:stretch>
            </a:blipFill>
          </p:spPr>
        </p:sp>
      </p:grpSp>
      <p:grpSp>
        <p:nvGrpSpPr>
          <p:cNvPr name="Group 7" id="7"/>
          <p:cNvGrpSpPr>
            <a:grpSpLocks noChangeAspect="true"/>
          </p:cNvGrpSpPr>
          <p:nvPr/>
        </p:nvGrpSpPr>
        <p:grpSpPr>
          <a:xfrm rot="0">
            <a:off x="1952495" y="4831901"/>
            <a:ext cx="152400" cy="152399"/>
            <a:chOff x="0" y="0"/>
            <a:chExt cx="203200" cy="203199"/>
          </a:xfrm>
        </p:grpSpPr>
        <p:sp>
          <p:nvSpPr>
            <p:cNvPr name="Freeform 8" id="8"/>
            <p:cNvSpPr/>
            <p:nvPr/>
          </p:nvSpPr>
          <p:spPr>
            <a:xfrm flipH="false" flipV="false" rot="0">
              <a:off x="0" y="0"/>
              <a:ext cx="203200" cy="203200"/>
            </a:xfrm>
            <a:custGeom>
              <a:avLst/>
              <a:gdLst/>
              <a:ahLst/>
              <a:cxnLst/>
              <a:rect r="r" b="b" t="t" l="l"/>
              <a:pathLst>
                <a:path h="203200" w="203200">
                  <a:moveTo>
                    <a:pt x="0" y="0"/>
                  </a:moveTo>
                  <a:lnTo>
                    <a:pt x="203200" y="0"/>
                  </a:lnTo>
                  <a:lnTo>
                    <a:pt x="203200" y="203200"/>
                  </a:lnTo>
                  <a:lnTo>
                    <a:pt x="0" y="203200"/>
                  </a:lnTo>
                  <a:lnTo>
                    <a:pt x="0" y="0"/>
                  </a:lnTo>
                  <a:close/>
                </a:path>
              </a:pathLst>
            </a:custGeom>
            <a:blipFill>
              <a:blip r:embed="rId2"/>
              <a:stretch>
                <a:fillRect l="0" t="0" r="0" b="0"/>
              </a:stretch>
            </a:blipFill>
          </p:spPr>
        </p:sp>
      </p:grpSp>
      <p:grpSp>
        <p:nvGrpSpPr>
          <p:cNvPr name="Group 9" id="9"/>
          <p:cNvGrpSpPr>
            <a:grpSpLocks noChangeAspect="true"/>
          </p:cNvGrpSpPr>
          <p:nvPr/>
        </p:nvGrpSpPr>
        <p:grpSpPr>
          <a:xfrm rot="0">
            <a:off x="1952495" y="5974901"/>
            <a:ext cx="152400" cy="152399"/>
            <a:chOff x="0" y="0"/>
            <a:chExt cx="203200" cy="203199"/>
          </a:xfrm>
        </p:grpSpPr>
        <p:sp>
          <p:nvSpPr>
            <p:cNvPr name="Freeform 10" id="10"/>
            <p:cNvSpPr/>
            <p:nvPr/>
          </p:nvSpPr>
          <p:spPr>
            <a:xfrm flipH="false" flipV="false" rot="0">
              <a:off x="0" y="0"/>
              <a:ext cx="203200" cy="203200"/>
            </a:xfrm>
            <a:custGeom>
              <a:avLst/>
              <a:gdLst/>
              <a:ahLst/>
              <a:cxnLst/>
              <a:rect r="r" b="b" t="t" l="l"/>
              <a:pathLst>
                <a:path h="203200" w="203200">
                  <a:moveTo>
                    <a:pt x="0" y="0"/>
                  </a:moveTo>
                  <a:lnTo>
                    <a:pt x="203200" y="0"/>
                  </a:lnTo>
                  <a:lnTo>
                    <a:pt x="203200" y="203200"/>
                  </a:lnTo>
                  <a:lnTo>
                    <a:pt x="0" y="203200"/>
                  </a:lnTo>
                  <a:lnTo>
                    <a:pt x="0" y="0"/>
                  </a:lnTo>
                  <a:close/>
                </a:path>
              </a:pathLst>
            </a:custGeom>
            <a:blipFill>
              <a:blip r:embed="rId3"/>
              <a:stretch>
                <a:fillRect l="0" t="0" r="0" b="0"/>
              </a:stretch>
            </a:blipFill>
          </p:spPr>
        </p:sp>
      </p:grpSp>
      <p:sp>
        <p:nvSpPr>
          <p:cNvPr name="TextBox 11" id="11"/>
          <p:cNvSpPr txBox="true"/>
          <p:nvPr/>
        </p:nvSpPr>
        <p:spPr>
          <a:xfrm rot="0">
            <a:off x="571010" y="3415838"/>
            <a:ext cx="15039975" cy="3353029"/>
          </a:xfrm>
          <a:prstGeom prst="rect">
            <a:avLst/>
          </a:prstGeom>
        </p:spPr>
        <p:txBody>
          <a:bodyPr anchor="t" rtlCol="false" tIns="0" lIns="0" bIns="0" rIns="0">
            <a:spAutoFit/>
          </a:bodyPr>
          <a:lstStyle/>
          <a:p>
            <a:pPr algn="l">
              <a:lnSpc>
                <a:spcPts val="4498"/>
              </a:lnSpc>
            </a:pPr>
            <a:r>
              <a:rPr lang="en-US" b="true" sz="3500" spc="3">
                <a:solidFill>
                  <a:srgbClr val="12183C"/>
                </a:solidFill>
                <a:latin typeface="Tomorrow Bold"/>
                <a:ea typeface="Tomorrow Bold"/>
                <a:cs typeface="Tomorrow Bold"/>
                <a:sym typeface="Tomorrow Bold"/>
              </a:rPr>
              <a:t>Business Hotels</a:t>
            </a:r>
            <a:r>
              <a:rPr lang="en-US" sz="3500" spc="3">
                <a:solidFill>
                  <a:srgbClr val="12183C"/>
                </a:solidFill>
                <a:latin typeface="Tomorrow"/>
                <a:ea typeface="Tomorrow"/>
                <a:cs typeface="Tomorrow"/>
                <a:sym typeface="Tomorrow"/>
              </a:rPr>
              <a:t>: Leverage predictive analytics to maximize weekday corporate bookings and optimize room pricing.</a:t>
            </a:r>
          </a:p>
          <a:p>
            <a:pPr algn="l">
              <a:lnSpc>
                <a:spcPts val="4498"/>
              </a:lnSpc>
            </a:pPr>
            <a:r>
              <a:rPr lang="en-US" b="true" sz="3500" spc="3">
                <a:solidFill>
                  <a:srgbClr val="12183C"/>
                </a:solidFill>
                <a:latin typeface="Tomorrow Bold"/>
                <a:ea typeface="Tomorrow Bold"/>
                <a:cs typeface="Tomorrow Bold"/>
                <a:sym typeface="Tomorrow Bold"/>
              </a:rPr>
              <a:t>Resort Hotels:</a:t>
            </a:r>
            <a:r>
              <a:rPr lang="en-US" sz="3500" spc="3">
                <a:solidFill>
                  <a:srgbClr val="12183C"/>
                </a:solidFill>
                <a:latin typeface="Tomorrow"/>
                <a:ea typeface="Tomorrow"/>
                <a:cs typeface="Tomorrow"/>
                <a:sym typeface="Tomorrow"/>
              </a:rPr>
              <a:t> Use AI-driven forecasting to manage seasonal peaks and enhance off-season profitability.</a:t>
            </a:r>
          </a:p>
          <a:p>
            <a:pPr algn="l">
              <a:lnSpc>
                <a:spcPts val="4498"/>
              </a:lnSpc>
            </a:pPr>
            <a:r>
              <a:rPr lang="en-US" b="true" sz="3500" spc="3">
                <a:solidFill>
                  <a:srgbClr val="12183C"/>
                </a:solidFill>
                <a:latin typeface="Tomorrow Bold"/>
                <a:ea typeface="Tomorrow Bold"/>
                <a:cs typeface="Tomorrow Bold"/>
                <a:sym typeface="Tomorrow Bold"/>
              </a:rPr>
              <a:t>Boutique Hotels: </a:t>
            </a:r>
            <a:r>
              <a:rPr lang="en-US" sz="3500" spc="3">
                <a:solidFill>
                  <a:srgbClr val="12183C"/>
                </a:solidFill>
                <a:latin typeface="Tomorrow"/>
                <a:ea typeface="Tomorrow"/>
                <a:cs typeface="Tomorrow"/>
                <a:sym typeface="Tomorrow"/>
              </a:rPr>
              <a:t>Apply sentiment analysis on reviews to boost guest satisfaction and deliver personalized offers.</a:t>
            </a:r>
          </a:p>
        </p:txBody>
      </p:sp>
      <p:grpSp>
        <p:nvGrpSpPr>
          <p:cNvPr name="Group 12" id="12"/>
          <p:cNvGrpSpPr/>
          <p:nvPr/>
        </p:nvGrpSpPr>
        <p:grpSpPr>
          <a:xfrm rot="0">
            <a:off x="0" y="0"/>
            <a:ext cx="18288000" cy="497840"/>
            <a:chOff x="0" y="0"/>
            <a:chExt cx="24384000" cy="663787"/>
          </a:xfrm>
        </p:grpSpPr>
        <p:sp>
          <p:nvSpPr>
            <p:cNvPr name="Freeform 13" id="13"/>
            <p:cNvSpPr/>
            <p:nvPr/>
          </p:nvSpPr>
          <p:spPr>
            <a:xfrm flipH="false" flipV="false" rot="0">
              <a:off x="0" y="0"/>
              <a:ext cx="24383492" cy="663448"/>
            </a:xfrm>
            <a:custGeom>
              <a:avLst/>
              <a:gdLst/>
              <a:ahLst/>
              <a:cxnLst/>
              <a:rect r="r" b="b" t="t" l="l"/>
              <a:pathLst>
                <a:path h="663448" w="24383492">
                  <a:moveTo>
                    <a:pt x="24383492" y="663448"/>
                  </a:moveTo>
                  <a:lnTo>
                    <a:pt x="0" y="663448"/>
                  </a:lnTo>
                  <a:lnTo>
                    <a:pt x="0" y="0"/>
                  </a:lnTo>
                  <a:lnTo>
                    <a:pt x="24383492" y="0"/>
                  </a:lnTo>
                  <a:lnTo>
                    <a:pt x="24383492" y="663448"/>
                  </a:lnTo>
                  <a:close/>
                </a:path>
              </a:pathLst>
            </a:custGeom>
            <a:solidFill>
              <a:srgbClr val="FDD02E"/>
            </a:solidFill>
          </p:spPr>
        </p:sp>
      </p:gr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497622"/>
            <a:ext cx="18288000" cy="9789795"/>
            <a:chOff x="0" y="0"/>
            <a:chExt cx="24384000" cy="13053060"/>
          </a:xfrm>
        </p:grpSpPr>
        <p:sp>
          <p:nvSpPr>
            <p:cNvPr name="Freeform 3" id="3"/>
            <p:cNvSpPr/>
            <p:nvPr/>
          </p:nvSpPr>
          <p:spPr>
            <a:xfrm flipH="false" flipV="false" rot="0">
              <a:off x="0" y="0"/>
              <a:ext cx="24384000" cy="13052552"/>
            </a:xfrm>
            <a:custGeom>
              <a:avLst/>
              <a:gdLst/>
              <a:ahLst/>
              <a:cxnLst/>
              <a:rect r="r" b="b" t="t" l="l"/>
              <a:pathLst>
                <a:path h="13052552" w="24384000">
                  <a:moveTo>
                    <a:pt x="0" y="13052552"/>
                  </a:moveTo>
                  <a:lnTo>
                    <a:pt x="24384000" y="13052552"/>
                  </a:lnTo>
                  <a:lnTo>
                    <a:pt x="24384000" y="0"/>
                  </a:lnTo>
                  <a:lnTo>
                    <a:pt x="0" y="0"/>
                  </a:lnTo>
                  <a:lnTo>
                    <a:pt x="0" y="13052552"/>
                  </a:lnTo>
                  <a:close/>
                </a:path>
              </a:pathLst>
            </a:custGeom>
            <a:solidFill>
              <a:srgbClr val="F4F5FB"/>
            </a:solidFill>
          </p:spPr>
        </p:sp>
      </p:grpSp>
      <p:sp>
        <p:nvSpPr>
          <p:cNvPr name="TextBox 4" id="4"/>
          <p:cNvSpPr txBox="true"/>
          <p:nvPr/>
        </p:nvSpPr>
        <p:spPr>
          <a:xfrm rot="0">
            <a:off x="571675" y="1781464"/>
            <a:ext cx="17144648" cy="1089644"/>
          </a:xfrm>
          <a:prstGeom prst="rect">
            <a:avLst/>
          </a:prstGeom>
        </p:spPr>
        <p:txBody>
          <a:bodyPr anchor="t" rtlCol="false" tIns="0" lIns="0" bIns="0" rIns="0">
            <a:spAutoFit/>
          </a:bodyPr>
          <a:lstStyle/>
          <a:p>
            <a:pPr algn="l">
              <a:lnSpc>
                <a:spcPts val="8400"/>
              </a:lnSpc>
            </a:pPr>
            <a:r>
              <a:rPr lang="en-US" b="true" sz="7000" spc="310">
                <a:solidFill>
                  <a:srgbClr val="12183C"/>
                </a:solidFill>
                <a:latin typeface="Tahoma Bold"/>
                <a:ea typeface="Tahoma Bold"/>
                <a:cs typeface="Tahoma Bold"/>
                <a:sym typeface="Tahoma Bold"/>
              </a:rPr>
              <a:t>ADVANTAGE</a:t>
            </a:r>
          </a:p>
        </p:txBody>
      </p:sp>
      <p:grpSp>
        <p:nvGrpSpPr>
          <p:cNvPr name="Group 5" id="5"/>
          <p:cNvGrpSpPr/>
          <p:nvPr/>
        </p:nvGrpSpPr>
        <p:grpSpPr>
          <a:xfrm rot="0">
            <a:off x="0" y="0"/>
            <a:ext cx="18288000" cy="497840"/>
            <a:chOff x="0" y="0"/>
            <a:chExt cx="24384000" cy="663787"/>
          </a:xfrm>
        </p:grpSpPr>
        <p:sp>
          <p:nvSpPr>
            <p:cNvPr name="Freeform 6" id="6"/>
            <p:cNvSpPr/>
            <p:nvPr/>
          </p:nvSpPr>
          <p:spPr>
            <a:xfrm flipH="false" flipV="false" rot="0">
              <a:off x="0" y="0"/>
              <a:ext cx="24383492" cy="663448"/>
            </a:xfrm>
            <a:custGeom>
              <a:avLst/>
              <a:gdLst/>
              <a:ahLst/>
              <a:cxnLst/>
              <a:rect r="r" b="b" t="t" l="l"/>
              <a:pathLst>
                <a:path h="663448" w="24383492">
                  <a:moveTo>
                    <a:pt x="24383492" y="663448"/>
                  </a:moveTo>
                  <a:lnTo>
                    <a:pt x="0" y="663448"/>
                  </a:lnTo>
                  <a:lnTo>
                    <a:pt x="0" y="0"/>
                  </a:lnTo>
                  <a:lnTo>
                    <a:pt x="24383492" y="0"/>
                  </a:lnTo>
                  <a:lnTo>
                    <a:pt x="24383492" y="663448"/>
                  </a:lnTo>
                  <a:close/>
                </a:path>
              </a:pathLst>
            </a:custGeom>
            <a:solidFill>
              <a:srgbClr val="FDD02E"/>
            </a:solidFill>
          </p:spPr>
        </p:sp>
      </p:grpSp>
      <p:sp>
        <p:nvSpPr>
          <p:cNvPr name="TextBox 7" id="7"/>
          <p:cNvSpPr txBox="true"/>
          <p:nvPr/>
        </p:nvSpPr>
        <p:spPr>
          <a:xfrm rot="0">
            <a:off x="755874" y="3136257"/>
            <a:ext cx="17162780" cy="3556000"/>
          </a:xfrm>
          <a:prstGeom prst="rect">
            <a:avLst/>
          </a:prstGeom>
        </p:spPr>
        <p:txBody>
          <a:bodyPr anchor="t" rtlCol="false" tIns="0" lIns="0" bIns="0" rIns="0">
            <a:spAutoFit/>
          </a:bodyPr>
          <a:lstStyle/>
          <a:p>
            <a:pPr algn="l" marL="400050" indent="-200025" lvl="1">
              <a:lnSpc>
                <a:spcPts val="4573"/>
              </a:lnSpc>
              <a:buAutoNum type="arabicPeriod" startAt="1"/>
            </a:pPr>
            <a:r>
              <a:rPr lang="en-US" sz="3300" spc="-10">
                <a:solidFill>
                  <a:srgbClr val="12183C"/>
                </a:solidFill>
                <a:latin typeface="Tahoma"/>
                <a:ea typeface="Tahoma"/>
                <a:cs typeface="Tahoma"/>
                <a:sym typeface="Tahoma"/>
              </a:rPr>
              <a:t>	Proven	AI	&amp;	Machine	Learning	Expertise	—	ensures	accurate	forecasting	and intelligent decision-making.</a:t>
            </a:r>
          </a:p>
          <a:p>
            <a:pPr algn="l" marL="410845" indent="-205422" lvl="1">
              <a:lnSpc>
                <a:spcPts val="4573"/>
              </a:lnSpc>
              <a:buAutoNum type="arabicPeriod" startAt="1"/>
            </a:pPr>
            <a:r>
              <a:rPr lang="en-US" sz="3300" spc="-10">
                <a:solidFill>
                  <a:srgbClr val="12183C"/>
                </a:solidFill>
                <a:latin typeface="Tahoma"/>
                <a:ea typeface="Tahoma"/>
                <a:cs typeface="Tahoma"/>
                <a:sym typeface="Tahoma"/>
              </a:rPr>
              <a:t>Deep Domain Knowledge in Hospitality — tailored specifically for hotel revenue challenges.</a:t>
            </a:r>
          </a:p>
          <a:p>
            <a:pPr algn="l" marL="400050" indent="-200025" lvl="1">
              <a:lnSpc>
                <a:spcPts val="4573"/>
              </a:lnSpc>
              <a:buAutoNum type="arabicPeriod" startAt="1"/>
            </a:pPr>
            <a:r>
              <a:rPr lang="en-US" sz="3300" spc="-185">
                <a:solidFill>
                  <a:srgbClr val="12183C"/>
                </a:solidFill>
                <a:latin typeface="Tahoma"/>
                <a:ea typeface="Tahoma"/>
                <a:cs typeface="Tahoma"/>
                <a:sym typeface="Tahoma"/>
              </a:rPr>
              <a:t>	Comprehensive End-to-End Solution — from model design to deployment and ongoing support.</a:t>
            </a:r>
          </a:p>
        </p:txBody>
      </p:sp>
      <p:grpSp>
        <p:nvGrpSpPr>
          <p:cNvPr name="Group 8" id="8"/>
          <p:cNvGrpSpPr/>
          <p:nvPr/>
        </p:nvGrpSpPr>
        <p:grpSpPr>
          <a:xfrm rot="0">
            <a:off x="134732" y="650022"/>
            <a:ext cx="18288000" cy="9789795"/>
            <a:chOff x="0" y="0"/>
            <a:chExt cx="24384000" cy="13053060"/>
          </a:xfrm>
        </p:grpSpPr>
        <p:sp>
          <p:nvSpPr>
            <p:cNvPr name="Freeform 9" id="9"/>
            <p:cNvSpPr/>
            <p:nvPr/>
          </p:nvSpPr>
          <p:spPr>
            <a:xfrm flipH="false" flipV="false" rot="0">
              <a:off x="0" y="0"/>
              <a:ext cx="24384000" cy="13052552"/>
            </a:xfrm>
            <a:custGeom>
              <a:avLst/>
              <a:gdLst/>
              <a:ahLst/>
              <a:cxnLst/>
              <a:rect r="r" b="b" t="t" l="l"/>
              <a:pathLst>
                <a:path h="13052552" w="24384000">
                  <a:moveTo>
                    <a:pt x="0" y="13052552"/>
                  </a:moveTo>
                  <a:lnTo>
                    <a:pt x="24384000" y="13052552"/>
                  </a:lnTo>
                  <a:lnTo>
                    <a:pt x="24384000" y="0"/>
                  </a:lnTo>
                  <a:lnTo>
                    <a:pt x="0" y="0"/>
                  </a:lnTo>
                  <a:lnTo>
                    <a:pt x="0" y="13052552"/>
                  </a:lnTo>
                  <a:close/>
                </a:path>
              </a:pathLst>
            </a:custGeom>
            <a:solidFill>
              <a:srgbClr val="F4F5FB"/>
            </a:solidFill>
          </p:spPr>
        </p:sp>
      </p:grpSp>
      <p:sp>
        <p:nvSpPr>
          <p:cNvPr name="TextBox 10" id="10"/>
          <p:cNvSpPr txBox="true"/>
          <p:nvPr/>
        </p:nvSpPr>
        <p:spPr>
          <a:xfrm rot="0">
            <a:off x="269464" y="3592294"/>
            <a:ext cx="18018536" cy="3600450"/>
          </a:xfrm>
          <a:prstGeom prst="rect">
            <a:avLst/>
          </a:prstGeom>
        </p:spPr>
        <p:txBody>
          <a:bodyPr anchor="t" rtlCol="false" tIns="0" lIns="0" bIns="0" rIns="0">
            <a:spAutoFit/>
          </a:bodyPr>
          <a:lstStyle/>
          <a:p>
            <a:pPr algn="l">
              <a:lnSpc>
                <a:spcPts val="4083"/>
              </a:lnSpc>
            </a:pPr>
          </a:p>
          <a:p>
            <a:pPr algn="l" marL="734607" indent="-367303" lvl="1">
              <a:lnSpc>
                <a:spcPts val="4083"/>
              </a:lnSpc>
              <a:buFont typeface="Arial"/>
              <a:buChar char="•"/>
            </a:pPr>
            <a:r>
              <a:rPr lang="en-US" sz="3402" spc="-8">
                <a:solidFill>
                  <a:srgbClr val="12183C"/>
                </a:solidFill>
                <a:latin typeface="Tomorrow"/>
                <a:ea typeface="Tomorrow"/>
                <a:cs typeface="Tomorrow"/>
                <a:sym typeface="Tomorrow"/>
              </a:rPr>
              <a:t>· </a:t>
            </a:r>
            <a:r>
              <a:rPr lang="en-US" b="true" sz="3402" spc="-8">
                <a:solidFill>
                  <a:srgbClr val="12183C"/>
                </a:solidFill>
                <a:latin typeface="Tomorrow Bold"/>
                <a:ea typeface="Tomorrow Bold"/>
                <a:cs typeface="Tomorrow Bold"/>
                <a:sym typeface="Tomorrow Bold"/>
              </a:rPr>
              <a:t>Boutique and Budget </a:t>
            </a:r>
            <a:r>
              <a:rPr lang="en-US" sz="3402" spc="-8">
                <a:solidFill>
                  <a:srgbClr val="12183C"/>
                </a:solidFill>
                <a:latin typeface="Tomorrow"/>
                <a:ea typeface="Tomorrow"/>
                <a:cs typeface="Tomorrow"/>
                <a:sym typeface="Tomorrow"/>
              </a:rPr>
              <a:t>hotels generate the highest revenue.</a:t>
            </a:r>
          </a:p>
          <a:p>
            <a:pPr algn="l" marL="734607" indent="-367303" lvl="1">
              <a:lnSpc>
                <a:spcPts val="4083"/>
              </a:lnSpc>
              <a:buFont typeface="Arial"/>
              <a:buChar char="•"/>
            </a:pPr>
            <a:r>
              <a:rPr lang="en-US" sz="3402" spc="-8">
                <a:solidFill>
                  <a:srgbClr val="12183C"/>
                </a:solidFill>
                <a:latin typeface="Tomorrow"/>
                <a:ea typeface="Tomorrow"/>
                <a:cs typeface="Tomorrow"/>
                <a:sym typeface="Tomorrow"/>
              </a:rPr>
              <a:t>· </a:t>
            </a:r>
            <a:r>
              <a:rPr lang="en-US" b="true" sz="3402" spc="-8">
                <a:solidFill>
                  <a:srgbClr val="12183C"/>
                </a:solidFill>
                <a:latin typeface="Tomorrow Bold"/>
                <a:ea typeface="Tomorrow Bold"/>
                <a:cs typeface="Tomorrow Bold"/>
                <a:sym typeface="Tomorrow Bold"/>
              </a:rPr>
              <a:t>Corporate booking channels</a:t>
            </a:r>
            <a:r>
              <a:rPr lang="en-US" sz="3402" spc="-8">
                <a:solidFill>
                  <a:srgbClr val="12183C"/>
                </a:solidFill>
                <a:latin typeface="Tomorrow"/>
                <a:ea typeface="Tomorrow"/>
                <a:cs typeface="Tomorrow"/>
                <a:sym typeface="Tomorrow"/>
              </a:rPr>
              <a:t> contribute the most to total revenue, followed by travel agents.</a:t>
            </a:r>
          </a:p>
          <a:p>
            <a:pPr algn="l" marL="734607" indent="-367303" lvl="1">
              <a:lnSpc>
                <a:spcPts val="4083"/>
              </a:lnSpc>
              <a:buFont typeface="Arial"/>
              <a:buChar char="•"/>
            </a:pPr>
            <a:r>
              <a:rPr lang="en-US" sz="3402" spc="-8">
                <a:solidFill>
                  <a:srgbClr val="12183C"/>
                </a:solidFill>
                <a:latin typeface="Tomorrow"/>
                <a:ea typeface="Tomorrow"/>
                <a:cs typeface="Tomorrow"/>
                <a:sym typeface="Tomorrow"/>
              </a:rPr>
              <a:t>· The </a:t>
            </a:r>
            <a:r>
              <a:rPr lang="en-US" b="true" sz="3402" spc="-8">
                <a:solidFill>
                  <a:srgbClr val="12183C"/>
                </a:solidFill>
                <a:latin typeface="Tomorrow Bold"/>
                <a:ea typeface="Tomorrow Bold"/>
                <a:cs typeface="Tomorrow Bold"/>
                <a:sym typeface="Tomorrow Bold"/>
              </a:rPr>
              <a:t>Deluxe room type</a:t>
            </a:r>
            <a:r>
              <a:rPr lang="en-US" sz="3402" spc="-8">
                <a:solidFill>
                  <a:srgbClr val="12183C"/>
                </a:solidFill>
                <a:latin typeface="Tomorrow"/>
                <a:ea typeface="Tomorrow"/>
                <a:cs typeface="Tomorrow"/>
                <a:sym typeface="Tomorrow"/>
              </a:rPr>
              <a:t> has the highest booking frequency.</a:t>
            </a:r>
          </a:p>
          <a:p>
            <a:pPr algn="l" marL="734607" indent="-367303" lvl="1">
              <a:lnSpc>
                <a:spcPts val="4083"/>
              </a:lnSpc>
              <a:buFont typeface="Arial"/>
              <a:buChar char="•"/>
            </a:pPr>
            <a:r>
              <a:rPr lang="en-US" sz="3402" spc="-8">
                <a:solidFill>
                  <a:srgbClr val="12183C"/>
                </a:solidFill>
                <a:latin typeface="Tomorrow"/>
                <a:ea typeface="Tomorrow"/>
                <a:cs typeface="Tomorrow"/>
                <a:sym typeface="Tomorrow"/>
              </a:rPr>
              <a:t>· The </a:t>
            </a:r>
            <a:r>
              <a:rPr lang="en-US" b="true" sz="3402" spc="-8">
                <a:solidFill>
                  <a:srgbClr val="12183C"/>
                </a:solidFill>
                <a:latin typeface="Tomorrow Bold"/>
                <a:ea typeface="Tomorrow Bold"/>
                <a:cs typeface="Tomorrow Bold"/>
                <a:sym typeface="Tomorrow Bold"/>
              </a:rPr>
              <a:t>South and North regions</a:t>
            </a:r>
            <a:r>
              <a:rPr lang="en-US" sz="3402" spc="-8">
                <a:solidFill>
                  <a:srgbClr val="12183C"/>
                </a:solidFill>
                <a:latin typeface="Tomorrow"/>
                <a:ea typeface="Tomorrow"/>
                <a:cs typeface="Tomorrow"/>
                <a:sym typeface="Tomorrow"/>
              </a:rPr>
              <a:t> show consistently strong revenue performance.</a:t>
            </a:r>
          </a:p>
          <a:p>
            <a:pPr algn="l" marL="734607" indent="-367303" lvl="1">
              <a:lnSpc>
                <a:spcPts val="4083"/>
              </a:lnSpc>
              <a:buFont typeface="Arial"/>
              <a:buChar char="•"/>
            </a:pPr>
            <a:r>
              <a:rPr lang="en-US" sz="3402" spc="-8">
                <a:solidFill>
                  <a:srgbClr val="12183C"/>
                </a:solidFill>
                <a:latin typeface="Tomorrow"/>
                <a:ea typeface="Tomorrow"/>
                <a:cs typeface="Tomorrow"/>
                <a:sym typeface="Tomorrow"/>
              </a:rPr>
              <a:t>· The </a:t>
            </a:r>
            <a:r>
              <a:rPr lang="en-US" b="true" sz="3402" spc="-8">
                <a:solidFill>
                  <a:srgbClr val="12183C"/>
                </a:solidFill>
                <a:latin typeface="Tomorrow Bold"/>
                <a:ea typeface="Tomorrow Bold"/>
                <a:cs typeface="Tomorrow Bold"/>
                <a:sym typeface="Tomorrow Bold"/>
              </a:rPr>
              <a:t>Corporate customer type</a:t>
            </a:r>
            <a:r>
              <a:rPr lang="en-US" sz="3402" spc="-8">
                <a:solidFill>
                  <a:srgbClr val="12183C"/>
                </a:solidFill>
                <a:latin typeface="Tomorrow"/>
                <a:ea typeface="Tomorrow"/>
                <a:cs typeface="Tomorrow"/>
                <a:sym typeface="Tomorrow"/>
              </a:rPr>
              <a:t> accounts for a larger share of the total revenue.</a:t>
            </a:r>
          </a:p>
        </p:txBody>
      </p:sp>
      <p:sp>
        <p:nvSpPr>
          <p:cNvPr name="TextBox 11" id="11"/>
          <p:cNvSpPr txBox="true"/>
          <p:nvPr/>
        </p:nvSpPr>
        <p:spPr>
          <a:xfrm rot="0">
            <a:off x="571675" y="1695064"/>
            <a:ext cx="17144648" cy="885825"/>
          </a:xfrm>
          <a:prstGeom prst="rect">
            <a:avLst/>
          </a:prstGeom>
        </p:spPr>
        <p:txBody>
          <a:bodyPr anchor="t" rtlCol="false" tIns="0" lIns="0" bIns="0" rIns="0">
            <a:spAutoFit/>
          </a:bodyPr>
          <a:lstStyle/>
          <a:p>
            <a:pPr algn="l">
              <a:lnSpc>
                <a:spcPts val="7079"/>
              </a:lnSpc>
            </a:pPr>
            <a:r>
              <a:rPr lang="en-US" b="true" sz="5899" spc="-9">
                <a:solidFill>
                  <a:srgbClr val="12183C"/>
                </a:solidFill>
                <a:latin typeface="Tahoma Bold"/>
                <a:ea typeface="Tahoma Bold"/>
                <a:cs typeface="Tahoma Bold"/>
                <a:sym typeface="Tahoma Bold"/>
              </a:rPr>
              <a:t>INSIGHTS AND FINDINGS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497622"/>
            <a:ext cx="18288000" cy="9789795"/>
            <a:chOff x="0" y="0"/>
            <a:chExt cx="24384000" cy="13053060"/>
          </a:xfrm>
        </p:grpSpPr>
        <p:sp>
          <p:nvSpPr>
            <p:cNvPr name="Freeform 3" id="3"/>
            <p:cNvSpPr/>
            <p:nvPr/>
          </p:nvSpPr>
          <p:spPr>
            <a:xfrm flipH="false" flipV="false" rot="0">
              <a:off x="0" y="0"/>
              <a:ext cx="24384000" cy="13052552"/>
            </a:xfrm>
            <a:custGeom>
              <a:avLst/>
              <a:gdLst/>
              <a:ahLst/>
              <a:cxnLst/>
              <a:rect r="r" b="b" t="t" l="l"/>
              <a:pathLst>
                <a:path h="13052552" w="24384000">
                  <a:moveTo>
                    <a:pt x="0" y="13052552"/>
                  </a:moveTo>
                  <a:lnTo>
                    <a:pt x="24384000" y="13052552"/>
                  </a:lnTo>
                  <a:lnTo>
                    <a:pt x="24384000" y="0"/>
                  </a:lnTo>
                  <a:lnTo>
                    <a:pt x="0" y="0"/>
                  </a:lnTo>
                  <a:lnTo>
                    <a:pt x="0" y="13052552"/>
                  </a:lnTo>
                  <a:close/>
                </a:path>
              </a:pathLst>
            </a:custGeom>
            <a:solidFill>
              <a:srgbClr val="F4F5FB"/>
            </a:solidFill>
          </p:spPr>
        </p:sp>
      </p:grpSp>
      <p:sp>
        <p:nvSpPr>
          <p:cNvPr name="TextBox 4" id="4"/>
          <p:cNvSpPr txBox="true"/>
          <p:nvPr/>
        </p:nvSpPr>
        <p:spPr>
          <a:xfrm rot="0">
            <a:off x="571675" y="1791608"/>
            <a:ext cx="17144648" cy="1079500"/>
          </a:xfrm>
          <a:prstGeom prst="rect">
            <a:avLst/>
          </a:prstGeom>
        </p:spPr>
        <p:txBody>
          <a:bodyPr anchor="t" rtlCol="false" tIns="0" lIns="0" bIns="0" rIns="0">
            <a:spAutoFit/>
          </a:bodyPr>
          <a:lstStyle/>
          <a:p>
            <a:pPr algn="l">
              <a:lnSpc>
                <a:spcPts val="8400"/>
              </a:lnSpc>
            </a:pPr>
            <a:r>
              <a:rPr lang="en-US" b="true" sz="7000" spc="60">
                <a:solidFill>
                  <a:srgbClr val="12183C"/>
                </a:solidFill>
                <a:latin typeface="Tahoma Bold"/>
                <a:ea typeface="Tahoma Bold"/>
                <a:cs typeface="Tahoma Bold"/>
                <a:sym typeface="Tahoma Bold"/>
              </a:rPr>
              <a:t>CONCLUSION</a:t>
            </a:r>
          </a:p>
        </p:txBody>
      </p:sp>
      <p:sp>
        <p:nvSpPr>
          <p:cNvPr name="Freeform 5" id="5"/>
          <p:cNvSpPr/>
          <p:nvPr/>
        </p:nvSpPr>
        <p:spPr>
          <a:xfrm flipH="false" flipV="false" rot="0">
            <a:off x="1285875" y="3246341"/>
            <a:ext cx="14963775" cy="5724525"/>
          </a:xfrm>
          <a:custGeom>
            <a:avLst/>
            <a:gdLst/>
            <a:ahLst/>
            <a:cxnLst/>
            <a:rect r="r" b="b" t="t" l="l"/>
            <a:pathLst>
              <a:path h="5724525" w="14963775">
                <a:moveTo>
                  <a:pt x="0" y="0"/>
                </a:moveTo>
                <a:lnTo>
                  <a:pt x="14963775" y="0"/>
                </a:lnTo>
                <a:lnTo>
                  <a:pt x="14963775" y="5724525"/>
                </a:lnTo>
                <a:lnTo>
                  <a:pt x="0" y="57245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666378" y="3525094"/>
            <a:ext cx="14203044" cy="5023485"/>
          </a:xfrm>
          <a:prstGeom prst="rect">
            <a:avLst/>
          </a:prstGeom>
        </p:spPr>
        <p:txBody>
          <a:bodyPr anchor="t" rtlCol="false" tIns="0" lIns="0" bIns="0" rIns="0">
            <a:spAutoFit/>
          </a:bodyPr>
          <a:lstStyle/>
          <a:p>
            <a:pPr algn="ctr">
              <a:lnSpc>
                <a:spcPts val="4876"/>
              </a:lnSpc>
            </a:pPr>
            <a:r>
              <a:rPr lang="en-US" sz="3500">
                <a:solidFill>
                  <a:srgbClr val="000000"/>
                </a:solidFill>
                <a:latin typeface="Tahoma"/>
                <a:ea typeface="Tahoma"/>
                <a:cs typeface="Tahoma"/>
                <a:sym typeface="Tahoma"/>
              </a:rPr>
              <a:t>This analysis provides a comprehensive understanding of hotel performance metrics, allowing data-driven business strategies. The dashboards help management evaluate profitability, occupancy, and customer behaviour effectively. By leveraging these insights, hotels can improve demand forecasting, optimize pricing models, and maintain an ideal balance between occupancy and profit. The study emphasizes the importance of data analytics in enhancing the operational and financial efficiency of the hospitality industry.</a:t>
            </a:r>
          </a:p>
        </p:txBody>
      </p:sp>
      <p:grpSp>
        <p:nvGrpSpPr>
          <p:cNvPr name="Group 7" id="7"/>
          <p:cNvGrpSpPr/>
          <p:nvPr/>
        </p:nvGrpSpPr>
        <p:grpSpPr>
          <a:xfrm rot="0">
            <a:off x="0" y="0"/>
            <a:ext cx="18288000" cy="497840"/>
            <a:chOff x="0" y="0"/>
            <a:chExt cx="24384000" cy="663787"/>
          </a:xfrm>
        </p:grpSpPr>
        <p:sp>
          <p:nvSpPr>
            <p:cNvPr name="Freeform 8" id="8"/>
            <p:cNvSpPr/>
            <p:nvPr/>
          </p:nvSpPr>
          <p:spPr>
            <a:xfrm flipH="false" flipV="false" rot="0">
              <a:off x="0" y="0"/>
              <a:ext cx="24383492" cy="663448"/>
            </a:xfrm>
            <a:custGeom>
              <a:avLst/>
              <a:gdLst/>
              <a:ahLst/>
              <a:cxnLst/>
              <a:rect r="r" b="b" t="t" l="l"/>
              <a:pathLst>
                <a:path h="663448" w="24383492">
                  <a:moveTo>
                    <a:pt x="24383492" y="663448"/>
                  </a:moveTo>
                  <a:lnTo>
                    <a:pt x="0" y="663448"/>
                  </a:lnTo>
                  <a:lnTo>
                    <a:pt x="0" y="0"/>
                  </a:lnTo>
                  <a:lnTo>
                    <a:pt x="24383492" y="0"/>
                  </a:lnTo>
                  <a:lnTo>
                    <a:pt x="24383492" y="663448"/>
                  </a:lnTo>
                  <a:close/>
                </a:path>
              </a:pathLst>
            </a:custGeom>
            <a:solidFill>
              <a:srgbClr val="FF801D"/>
            </a:solid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DAG4Hio0Hmk</dc:identifier>
  <dcterms:modified xsi:type="dcterms:W3CDTF">2011-08-01T06:04:30Z</dcterms:modified>
  <cp:revision>1</cp:revision>
  <dc:title>INFOSYS1.pptx</dc:title>
</cp:coreProperties>
</file>